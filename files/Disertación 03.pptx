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300" r:id="rId3"/>
    <p:sldId id="311" r:id="rId4"/>
    <p:sldId id="259" r:id="rId5"/>
    <p:sldId id="290" r:id="rId6"/>
    <p:sldId id="312" r:id="rId7"/>
    <p:sldId id="305" r:id="rId8"/>
    <p:sldId id="292" r:id="rId9"/>
    <p:sldId id="299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win Mondragon" initials="EM" lastIdx="1" clrIdx="0">
    <p:extLst>
      <p:ext uri="{19B8F6BF-5375-455C-9EA6-DF929625EA0E}">
        <p15:presenceInfo xmlns:p15="http://schemas.microsoft.com/office/powerpoint/2012/main" userId="d4367a948fd51e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870"/>
    <a:srgbClr val="E9B36C"/>
    <a:srgbClr val="F5BA7E"/>
    <a:srgbClr val="F6C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9A577-4AC3-43A1-BAC9-2836F9AE9BD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58668-E25F-44F9-A8F6-B00E0F1D562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299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58668-E25F-44F9-A8F6-B00E0F1D562F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936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58668-E25F-44F9-A8F6-B00E0F1D562F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60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C605-A473-6345-7968-7B32C26B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9B1D52-C8B2-7BCF-92DF-49C507B70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E990A7-55EA-5670-B9C9-0250741B1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0B0C26-70C2-A874-2512-6445F846D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58668-E25F-44F9-A8F6-B00E0F1D562F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4165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8B186-6EA7-4F55-819B-CEB016C79D2A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085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58668-E25F-44F9-A8F6-B00E0F1D562F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9608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0C33-8CC6-43CE-4A72-74BD3032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6885FF-0B1E-3081-849F-57A352409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30C884-9BDA-E0C5-8BF4-B4CA4DD49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A0DB1E-C561-EF35-E968-790D948AE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58668-E25F-44F9-A8F6-B00E0F1D562F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218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14445-1327-4CF6-CEEA-3DB713C27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68FB77-C6DD-A404-5F15-138C6424B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29BCA-804E-8BDA-31DB-605B136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D1DC7E-2864-07DE-7549-41B075FE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3D1CC3-EB24-9024-8B3B-BD3D8E58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459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805B5-F63E-4161-8E55-77D83D10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C8231-617A-B23F-3688-C5F8D221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52C483-F21E-8F79-ACF2-99F2B86D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31BB48-AD49-9832-2393-85C48458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E1D939-41DD-0464-C554-87C32C9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915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15B7A-0465-39A1-C5ED-AAE8D97E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7E29C-7952-B370-441C-44E9C9FE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B18712-0525-B78E-345D-36CC1F58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CA4F3-E3B7-8322-2830-6BB11C1C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DEB453-3234-D054-321D-DE441BA5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747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C6E06-D244-294F-287C-BBE9E1A0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3F82A-2EC0-C10B-5E4F-0DE5D1BF5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80AC51-198A-56EB-DD3C-E64323206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806955-CDE0-FF34-1A03-5C20226E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558117-9387-9677-487A-CACDFCCB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715E93-4790-C828-7BE7-F6F03497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122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A3F94-6974-780E-DFFC-63E21643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6B7E15-C130-2156-A64D-69BFB2911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424091-A41A-FF66-726A-490448BF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6CC68F-87D3-46F4-D966-9CAE91F46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954457-1591-B93D-54AD-B2C3E9772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E3DC79-85F9-705D-ECBC-737509E7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0EBB53-BE90-E51C-B2AB-0FA8A441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A51068-10E3-259D-31BD-0A1DAF71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378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36E58-1192-A926-55EB-328639D0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6CCFA9-3A1C-27FE-E34B-B345F13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78A63B-A06A-99B0-A703-14FB41A1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D0219B-4685-03FB-AC16-D38EE490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816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BEE0FA-F25E-2374-0181-59F3F4BF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667311-6405-6D98-79CD-9F705FFC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A5EBFC-3F3D-A229-6F59-EEB2F5CF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822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816D0-FF68-3E6F-ED9C-E18B6B8F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22BEC6-E1E5-D987-27B7-D5C9329D8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03B617-860D-8BDA-F972-D0362E623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B9A2FF-C6F2-5F62-9290-BF1A1547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000EB4-667F-B08D-8A57-C4F3E5AE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9537F1-C692-50CA-B48F-A2E3F63F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4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AA134-F6EC-2C8A-57AC-FF442F95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3FC3EF-7C13-4378-55EE-501476BB5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DB084-A4EB-18B1-E87C-AD896AA53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02264E-56FA-1D58-D09C-12D665F5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22AB6D-404A-432F-9C23-832975BC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A7F4D1-111D-E957-AFFE-94F4170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593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EE83D-C397-D76D-8DF6-F2448895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ED1157-7A68-AC7B-D383-500B9ADF6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E2C143-0862-9BE4-3739-2AA5BD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4A57C0-ED9D-4012-2CC7-A98A1EA8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3DE268-5CB6-4ACB-9AD8-3D876F21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305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EF2902-ACA4-8D00-82A4-B480B78AC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33A506-7018-C49B-8902-9C102B5EF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647E92-235C-7248-65EA-FA40E6D6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668CD5-63E7-559E-9D7F-B5C4DBEA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2D8507-BE3D-2521-13DB-D6CCEED0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051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886A76-F3AF-ACFC-6831-29A2BB2A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62E2F-E8B3-261D-95F7-7488B3E2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4C85A-C276-112A-4707-4315D6B80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34484-87EF-4504-99E1-02B6034846B7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864A13-8758-53D7-7B52-F79896806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183B4-D347-E4EC-8D4E-31149BB93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319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dl.handle.net/20.500.14414/17611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107D8C-00FC-75C9-522D-2D3C9CDBD0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2696"/>
            <a:ext cx="12204357" cy="293747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45553E1-30F3-EF6D-2129-35B0D4B95C58}"/>
              </a:ext>
            </a:extLst>
          </p:cNvPr>
          <p:cNvSpPr txBox="1">
            <a:spLocks/>
          </p:cNvSpPr>
          <p:nvPr/>
        </p:nvSpPr>
        <p:spPr>
          <a:xfrm>
            <a:off x="723417" y="2055085"/>
            <a:ext cx="11124840" cy="20568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Aislados nativos de </a:t>
            </a:r>
            <a:r>
              <a:rPr lang="es-PE" sz="3600" b="1" i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Metarhizium</a:t>
            </a: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36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spp</a:t>
            </a: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con potencial de </a:t>
            </a:r>
            <a:r>
              <a:rPr lang="es-PE" sz="36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biocontrol</a:t>
            </a: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sobre el picudo rayado del plátano (</a:t>
            </a:r>
            <a:r>
              <a:rPr lang="es-PE" sz="3600" b="1" i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Metamasius</a:t>
            </a:r>
            <a:r>
              <a:rPr lang="es-PE" sz="3600" b="1" i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3600" b="1" i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hemipterus</a:t>
            </a: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en </a:t>
            </a:r>
            <a:r>
              <a:rPr lang="es-PE" sz="36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Ñunya</a:t>
            </a:r>
            <a:r>
              <a:rPr lang="es-PE" sz="3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Jalca, Amazonas</a:t>
            </a:r>
            <a:endParaRPr lang="es-PE" sz="3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tipo - UNTRM">
            <a:extLst>
              <a:ext uri="{FF2B5EF4-FFF2-40B4-BE49-F238E27FC236}">
                <a16:creationId xmlns:a16="http://schemas.microsoft.com/office/drawing/2014/main" id="{337FACEE-9E5A-3BF7-0505-A295A862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4439"/>
            <a:ext cx="2914650" cy="95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029641-7C49-EB72-AE63-D5398591C3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7BDCB3F-B194-3530-0823-61A4697BC3FA}"/>
              </a:ext>
            </a:extLst>
          </p:cNvPr>
          <p:cNvSpPr txBox="1"/>
          <p:nvPr/>
        </p:nvSpPr>
        <p:spPr>
          <a:xfrm>
            <a:off x="10957810" y="5794795"/>
            <a:ext cx="9293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s-P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9658F8-BE87-44EB-9AA9-DA7B7AED7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5002" y="0"/>
            <a:ext cx="1109355" cy="1128021"/>
          </a:xfrm>
          <a:prstGeom prst="rect">
            <a:avLst/>
          </a:prstGeom>
        </p:spPr>
      </p:pic>
      <p:sp>
        <p:nvSpPr>
          <p:cNvPr id="17" name="Marcador de fecha 16">
            <a:extLst>
              <a:ext uri="{FF2B5EF4-FFF2-40B4-BE49-F238E27FC236}">
                <a16:creationId xmlns:a16="http://schemas.microsoft.com/office/drawing/2014/main" id="{89A889D8-25A7-43E0-8409-7BB84285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DA43E4FC-562B-441E-93D9-B4184706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39E73EE6-54F7-423E-9F05-A18314B85D95}"/>
              </a:ext>
            </a:extLst>
          </p:cNvPr>
          <p:cNvSpPr txBox="1"/>
          <p:nvPr/>
        </p:nvSpPr>
        <p:spPr>
          <a:xfrm>
            <a:off x="2914651" y="117601"/>
            <a:ext cx="770780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UNIVERSIDAD NACIONAL TORIBIO ROFRÍGUEZ DE MENDOZA DE AMAZONAS</a:t>
            </a: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FACULTAD DE INGENIERÍA Y CIENCIAS AGRARIAS</a:t>
            </a: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ESCUELA PROFESIONAL DE INGENIERÍA AGRÓNOMA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C52682-B6EE-4DD3-BC83-8993E4C62217}"/>
              </a:ext>
            </a:extLst>
          </p:cNvPr>
          <p:cNvSpPr txBox="1"/>
          <p:nvPr/>
        </p:nvSpPr>
        <p:spPr>
          <a:xfrm>
            <a:off x="0" y="4807895"/>
            <a:ext cx="7285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Autor: Edwin Mondragon Herrera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B97116-2FF0-4D4F-B164-D0C4CA542900}"/>
              </a:ext>
            </a:extLst>
          </p:cNvPr>
          <p:cNvSpPr txBox="1"/>
          <p:nvPr/>
        </p:nvSpPr>
        <p:spPr>
          <a:xfrm>
            <a:off x="8229600" y="4792506"/>
            <a:ext cx="3657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Docente: Dr. Flavio Lozano Isla</a:t>
            </a:r>
            <a:endParaRPr lang="es-P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8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72"/>
    </mc:Choice>
    <mc:Fallback xmlns="">
      <p:transition spd="slow" advTm="170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DB4CC5-6052-4C98-3FB1-889833453B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10" name="Marcador de número de diapositiva 17">
            <a:extLst>
              <a:ext uri="{FF2B5EF4-FFF2-40B4-BE49-F238E27FC236}">
                <a16:creationId xmlns:a16="http://schemas.microsoft.com/office/drawing/2014/main" id="{4B273B04-67FB-C08E-C794-79EFF3BF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79AC7B-BD62-7656-29F1-79F0AF2AAB58}"/>
              </a:ext>
            </a:extLst>
          </p:cNvPr>
          <p:cNvSpPr txBox="1"/>
          <p:nvPr/>
        </p:nvSpPr>
        <p:spPr>
          <a:xfrm>
            <a:off x="4619645" y="121660"/>
            <a:ext cx="4680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OBJETIVOS</a:t>
            </a:r>
            <a:endParaRPr lang="es-ES" sz="3200" b="1" spc="-10" dirty="0">
              <a:solidFill>
                <a:srgbClr val="678D4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Marcador de fecha 16">
            <a:extLst>
              <a:ext uri="{FF2B5EF4-FFF2-40B4-BE49-F238E27FC236}">
                <a16:creationId xmlns:a16="http://schemas.microsoft.com/office/drawing/2014/main" id="{95235874-B074-66F0-473E-C6D5A2A2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B4D4A2-E329-3D3C-979E-2F9FA7B0C6F2}"/>
              </a:ext>
            </a:extLst>
          </p:cNvPr>
          <p:cNvSpPr txBox="1"/>
          <p:nvPr/>
        </p:nvSpPr>
        <p:spPr>
          <a:xfrm>
            <a:off x="1302840" y="1235764"/>
            <a:ext cx="869840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Caracterizar y seleccionar aislados nativos de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 potencial de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sobre el picudo rayado del plátano (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Metamasius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hemipterus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Ñunya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Jalca, Amazonas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58F25F1-59A1-4C7C-4B8C-A1D6533DE03D}"/>
              </a:ext>
            </a:extLst>
          </p:cNvPr>
          <p:cNvSpPr txBox="1"/>
          <p:nvPr/>
        </p:nvSpPr>
        <p:spPr>
          <a:xfrm>
            <a:off x="1302842" y="739259"/>
            <a:ext cx="3316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.1 Objetivo general </a:t>
            </a:r>
            <a:endParaRPr lang="es-PE" sz="2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7E6726F-5FAB-1ADC-F8DE-D52994CBF23B}"/>
              </a:ext>
            </a:extLst>
          </p:cNvPr>
          <p:cNvSpPr txBox="1"/>
          <p:nvPr/>
        </p:nvSpPr>
        <p:spPr>
          <a:xfrm>
            <a:off x="1302841" y="2359292"/>
            <a:ext cx="4231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.2 Objetivos espec</a:t>
            </a:r>
            <a:r>
              <a:rPr lang="es-PE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íficos</a:t>
            </a:r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s-PE" sz="2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F934D5A-52C5-6A47-80B6-6AFFA8382AF2}"/>
              </a:ext>
            </a:extLst>
          </p:cNvPr>
          <p:cNvSpPr txBox="1"/>
          <p:nvPr/>
        </p:nvSpPr>
        <p:spPr>
          <a:xfrm>
            <a:off x="1302839" y="2902335"/>
            <a:ext cx="86984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s-MX" dirty="0"/>
              <a:t>▪ Aislar y caracterizar morfológicamente aislados nativos de </a:t>
            </a:r>
            <a:r>
              <a:rPr lang="es-MX" i="1" dirty="0" err="1"/>
              <a:t>Metarhizium</a:t>
            </a:r>
            <a:r>
              <a:rPr lang="es-MX" dirty="0"/>
              <a:t> </a:t>
            </a:r>
            <a:r>
              <a:rPr lang="es-MX" dirty="0" err="1"/>
              <a:t>spp</a:t>
            </a:r>
            <a:r>
              <a:rPr lang="es-MX" dirty="0"/>
              <a:t>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▪ Caracterizar fisiológicamente los aislados nativos de </a:t>
            </a:r>
            <a:r>
              <a:rPr lang="es-MX" i="1" dirty="0" err="1"/>
              <a:t>Metarhizium</a:t>
            </a:r>
            <a:r>
              <a:rPr lang="es-MX" i="1" dirty="0"/>
              <a:t> </a:t>
            </a:r>
            <a:r>
              <a:rPr lang="es-MX" dirty="0" err="1"/>
              <a:t>spp</a:t>
            </a:r>
            <a:r>
              <a:rPr lang="es-MX" dirty="0"/>
              <a:t>, mediante variables: crecimiento micelial (MC); producción de </a:t>
            </a:r>
            <a:r>
              <a:rPr lang="es-MX" dirty="0" err="1"/>
              <a:t>conidias</a:t>
            </a:r>
            <a:r>
              <a:rPr lang="es-MX" dirty="0"/>
              <a:t> (</a:t>
            </a:r>
            <a:r>
              <a:rPr lang="es-MX" dirty="0" err="1"/>
              <a:t>PdC</a:t>
            </a:r>
            <a:r>
              <a:rPr lang="es-MX" dirty="0"/>
              <a:t>); germinación de conidios (</a:t>
            </a:r>
            <a:r>
              <a:rPr lang="es-MX" dirty="0" err="1"/>
              <a:t>GdC</a:t>
            </a:r>
            <a:r>
              <a:rPr lang="es-MX" dirty="0"/>
              <a:t>).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▪ Evaluar la patogenicidad de los aislados nativos de </a:t>
            </a:r>
            <a:r>
              <a:rPr lang="es-MX" i="1" dirty="0" err="1"/>
              <a:t>Metarhizium</a:t>
            </a:r>
            <a:r>
              <a:rPr lang="es-MX" dirty="0"/>
              <a:t> </a:t>
            </a:r>
            <a:r>
              <a:rPr lang="es-MX" dirty="0" err="1"/>
              <a:t>spp</a:t>
            </a:r>
            <a:r>
              <a:rPr lang="es-MX" dirty="0"/>
              <a:t>. sobre adultos sanos de </a:t>
            </a:r>
            <a:r>
              <a:rPr lang="es-MX" i="1" dirty="0" err="1"/>
              <a:t>Metamasius</a:t>
            </a:r>
            <a:r>
              <a:rPr lang="es-MX" i="1" dirty="0"/>
              <a:t> </a:t>
            </a:r>
            <a:r>
              <a:rPr lang="es-MX" i="1" dirty="0" err="1"/>
              <a:t>hemipterus</a:t>
            </a:r>
            <a:r>
              <a:rPr lang="es-MX" dirty="0"/>
              <a:t>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▪ Evaluar la producción de conidios de los aislados nativos de </a:t>
            </a:r>
            <a:r>
              <a:rPr lang="es-MX" i="1" dirty="0" err="1"/>
              <a:t>Metarhizium</a:t>
            </a:r>
            <a:r>
              <a:rPr lang="es-MX" i="1" dirty="0"/>
              <a:t> </a:t>
            </a:r>
            <a:r>
              <a:rPr lang="es-MX" dirty="0" err="1"/>
              <a:t>spp</a:t>
            </a:r>
            <a:r>
              <a:rPr lang="es-MX" dirty="0"/>
              <a:t>. en arroz como sustrato para posible producción masiva.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3678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7AD01-1FBC-9682-67AE-6C6C269B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4AF8AC3-4F51-9874-4340-428B4D1AC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10" name="Marcador de número de diapositiva 17">
            <a:extLst>
              <a:ext uri="{FF2B5EF4-FFF2-40B4-BE49-F238E27FC236}">
                <a16:creationId xmlns:a16="http://schemas.microsoft.com/office/drawing/2014/main" id="{03097EB5-0614-C76B-3E06-277E7939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8D1DF9-9477-31C4-A389-220F75EFB4C2}"/>
              </a:ext>
            </a:extLst>
          </p:cNvPr>
          <p:cNvSpPr txBox="1"/>
          <p:nvPr/>
        </p:nvSpPr>
        <p:spPr>
          <a:xfrm>
            <a:off x="4220452" y="0"/>
            <a:ext cx="4680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II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ANTECEDENTES</a:t>
            </a:r>
            <a:endParaRPr lang="es-ES" sz="3200" b="1" spc="-10" dirty="0">
              <a:solidFill>
                <a:srgbClr val="678D4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Marcador de fecha 16">
            <a:extLst>
              <a:ext uri="{FF2B5EF4-FFF2-40B4-BE49-F238E27FC236}">
                <a16:creationId xmlns:a16="http://schemas.microsoft.com/office/drawing/2014/main" id="{9E91A611-269E-FB07-EB90-47311247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74C8682-6FC6-39A5-DAB3-121EF2814B94}"/>
              </a:ext>
            </a:extLst>
          </p:cNvPr>
          <p:cNvSpPr txBox="1"/>
          <p:nvPr/>
        </p:nvSpPr>
        <p:spPr>
          <a:xfrm>
            <a:off x="914097" y="650983"/>
            <a:ext cx="1036380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MX" b="1" dirty="0"/>
              <a:t>Valle et al. (2021)</a:t>
            </a:r>
            <a:r>
              <a:rPr lang="es-MX" dirty="0"/>
              <a:t>,</a:t>
            </a:r>
            <a:r>
              <a:rPr lang="es-MX" b="1" dirty="0"/>
              <a:t> </a:t>
            </a:r>
            <a:r>
              <a:rPr lang="es-MX" dirty="0"/>
              <a:t>evaluaron veinte aislamientos monospóricos nativos de </a:t>
            </a:r>
            <a:r>
              <a:rPr lang="es-MX" i="1" dirty="0" err="1"/>
              <a:t>Metarhizium</a:t>
            </a:r>
            <a:r>
              <a:rPr lang="es-MX" dirty="0"/>
              <a:t> </a:t>
            </a:r>
            <a:r>
              <a:rPr lang="es-MX" dirty="0" err="1"/>
              <a:t>spp</a:t>
            </a:r>
            <a:r>
              <a:rPr lang="es-MX" dirty="0"/>
              <a:t>. aislados de suelos e insectos </a:t>
            </a:r>
            <a:r>
              <a:rPr lang="es-MX" dirty="0" err="1"/>
              <a:t>micosados</a:t>
            </a:r>
            <a:r>
              <a:rPr lang="es-MX" dirty="0"/>
              <a:t> en cultivos de caña de azúcar en Pastaza, Ecuador, con el objetivo de determinar su potencial </a:t>
            </a:r>
            <a:r>
              <a:rPr lang="es-MX" dirty="0" err="1"/>
              <a:t>biocontrol</a:t>
            </a:r>
            <a:r>
              <a:rPr lang="es-MX" dirty="0"/>
              <a:t> contra </a:t>
            </a:r>
            <a:r>
              <a:rPr lang="es-MX" i="1" dirty="0" err="1"/>
              <a:t>Mahanarva</a:t>
            </a:r>
            <a:r>
              <a:rPr lang="es-MX" i="1" dirty="0"/>
              <a:t> </a:t>
            </a:r>
            <a:r>
              <a:rPr lang="es-MX" i="1" dirty="0" err="1"/>
              <a:t>andigena</a:t>
            </a:r>
            <a:r>
              <a:rPr lang="es-MX" i="1" dirty="0"/>
              <a:t> </a:t>
            </a:r>
            <a:r>
              <a:rPr lang="es-MX" dirty="0"/>
              <a:t>(salivazo).</a:t>
            </a: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D27273-7C36-A759-093C-8C9B4476E8F0}"/>
              </a:ext>
            </a:extLst>
          </p:cNvPr>
          <p:cNvSpPr txBox="1"/>
          <p:nvPr/>
        </p:nvSpPr>
        <p:spPr>
          <a:xfrm>
            <a:off x="914097" y="2126515"/>
            <a:ext cx="1045133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Baró et al. (2022)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su investigación, caracterizaron seis aislados fúngicos del género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provenientes de insectos y suelos en Cuba, con el objetivo de identificar su potencial como agentes de control biológico contra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Cylas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formicarius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plaga de la papa.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86D3E1-11F6-1E83-63D9-3D4D26DEE665}"/>
              </a:ext>
            </a:extLst>
          </p:cNvPr>
          <p:cNvSpPr txBox="1"/>
          <p:nvPr/>
        </p:nvSpPr>
        <p:spPr>
          <a:xfrm>
            <a:off x="914097" y="3548002"/>
            <a:ext cx="10451329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su investigación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Mayo (2024), 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aisló cinco cepas nativas de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 el objetivo de identificar y seleccionar aislamientos con potencial de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 la chinche negra del cacao (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Antiteuchus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tripterus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Tabasco, México.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45B402-F005-D23B-495D-7078EEBAA6E2}"/>
              </a:ext>
            </a:extLst>
          </p:cNvPr>
          <p:cNvSpPr txBox="1"/>
          <p:nvPr/>
        </p:nvSpPr>
        <p:spPr>
          <a:xfrm>
            <a:off x="914097" y="4866896"/>
            <a:ext cx="1036380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el estudio desarrollado por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Oliva et al. (2024)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aislaron y caracterizaron dieciocho cepas nativas de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provenientes de muestras de suelo recolectadas en la provincia de Rodríguez de Mendoza, Perú, con el objetivo de evaluar su morfología, fisiología y capacidad patogénica.</a:t>
            </a:r>
          </a:p>
        </p:txBody>
      </p:sp>
    </p:spTree>
    <p:extLst>
      <p:ext uri="{BB962C8B-B14F-4D97-AF65-F5344CB8AC3E}">
        <p14:creationId xmlns:p14="http://schemas.microsoft.com/office/powerpoint/2010/main" val="402838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6FE02B4-0C46-4F8F-95ED-10A87E0C0F36}"/>
              </a:ext>
            </a:extLst>
          </p:cNvPr>
          <p:cNvSpPr txBox="1"/>
          <p:nvPr/>
        </p:nvSpPr>
        <p:spPr>
          <a:xfrm>
            <a:off x="2602045" y="210703"/>
            <a:ext cx="69879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III. 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VARIABLES DE ESTUDIO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51D055-FAC8-BB2D-765F-58CEAC8941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5559"/>
            <a:ext cx="12192000" cy="451620"/>
          </a:xfrm>
          <a:prstGeom prst="rect">
            <a:avLst/>
          </a:prstGeom>
        </p:spPr>
      </p:pic>
      <p:sp>
        <p:nvSpPr>
          <p:cNvPr id="15" name="Marcador de número de diapositiva 17">
            <a:extLst>
              <a:ext uri="{FF2B5EF4-FFF2-40B4-BE49-F238E27FC236}">
                <a16:creationId xmlns:a16="http://schemas.microsoft.com/office/drawing/2014/main" id="{35558D05-EC1A-02B7-C1B5-61EC05FC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fecha 16">
            <a:extLst>
              <a:ext uri="{FF2B5EF4-FFF2-40B4-BE49-F238E27FC236}">
                <a16:creationId xmlns:a16="http://schemas.microsoft.com/office/drawing/2014/main" id="{53813C34-E145-A8A4-0734-F8546B77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61CACC3-1EF2-52FD-3118-C0BC85DA8E42}"/>
              </a:ext>
            </a:extLst>
          </p:cNvPr>
          <p:cNvSpPr txBox="1"/>
          <p:nvPr/>
        </p:nvSpPr>
        <p:spPr>
          <a:xfrm>
            <a:off x="367837" y="931126"/>
            <a:ext cx="4583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3.1 Variables independientes</a:t>
            </a:r>
            <a:endParaRPr lang="es-PE" sz="2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F89F80-B537-2C39-1457-2367BAB293D1}"/>
              </a:ext>
            </a:extLst>
          </p:cNvPr>
          <p:cNvSpPr txBox="1"/>
          <p:nvPr/>
        </p:nvSpPr>
        <p:spPr>
          <a:xfrm>
            <a:off x="425433" y="2678839"/>
            <a:ext cx="4583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3.2 Variables dependientes</a:t>
            </a:r>
            <a:endParaRPr lang="es-PE" sz="2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D7F973A-6F00-686D-63F1-8BF998575A6C}"/>
              </a:ext>
            </a:extLst>
          </p:cNvPr>
          <p:cNvSpPr txBox="1"/>
          <p:nvPr/>
        </p:nvSpPr>
        <p:spPr>
          <a:xfrm>
            <a:off x="425433" y="1528439"/>
            <a:ext cx="446841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Aislados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nativos de </a:t>
            </a:r>
            <a:r>
              <a:rPr lang="pt-BR" sz="1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Metarizhium</a:t>
            </a:r>
            <a:r>
              <a:rPr lang="pt-BR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spp.</a:t>
            </a:r>
            <a:endParaRPr lang="pt-B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(20, 25, 30 °C)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BR" dirty="0"/>
            </a:b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3FFDE8B-B7CB-4B9D-6E69-C08EF73ACC56}"/>
              </a:ext>
            </a:extLst>
          </p:cNvPr>
          <p:cNvSpPr txBox="1"/>
          <p:nvPr/>
        </p:nvSpPr>
        <p:spPr>
          <a:xfrm>
            <a:off x="483029" y="3526358"/>
            <a:ext cx="4468415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Crecimiento micelial (CM)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Producción de </a:t>
            </a:r>
            <a:r>
              <a:rPr lang="es-MX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conidias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MX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PdC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Germinación de </a:t>
            </a:r>
            <a:r>
              <a:rPr lang="es-MX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conidias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MX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GdC</a:t>
            </a: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Mortalidad de adultos de M. </a:t>
            </a:r>
            <a:r>
              <a:rPr lang="es-MX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hemipterus</a:t>
            </a:r>
            <a:endParaRPr lang="es-MX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Tiempo de germinación (TG50 y TG90) </a:t>
            </a:r>
            <a:br>
              <a:rPr lang="es-MX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P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DADA2BC-1EBA-8D7C-FEC9-25E360F23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7" t="5362" r="13722" b="12076"/>
          <a:stretch>
            <a:fillRect/>
          </a:stretch>
        </p:blipFill>
        <p:spPr>
          <a:xfrm>
            <a:off x="6444008" y="1446762"/>
            <a:ext cx="4161534" cy="396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6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633"/>
    </mc:Choice>
    <mc:Fallback xmlns="">
      <p:transition spd="slow" advTm="516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123D7B-9826-3409-BE1E-BE9E5BCA27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E27F51DB-E663-F2FF-F338-620F3AC4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C59AA6-9DFF-377F-D907-EB156E8C2C04}"/>
              </a:ext>
            </a:extLst>
          </p:cNvPr>
          <p:cNvSpPr txBox="1"/>
          <p:nvPr/>
        </p:nvSpPr>
        <p:spPr>
          <a:xfrm>
            <a:off x="826572" y="155170"/>
            <a:ext cx="73857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 METODOLOGÍA </a:t>
            </a:r>
          </a:p>
        </p:txBody>
      </p:sp>
      <p:sp>
        <p:nvSpPr>
          <p:cNvPr id="3" name="Marcador de fecha 16">
            <a:extLst>
              <a:ext uri="{FF2B5EF4-FFF2-40B4-BE49-F238E27FC236}">
                <a16:creationId xmlns:a16="http://schemas.microsoft.com/office/drawing/2014/main" id="{611AD5F8-E002-5D6E-23DC-44EC9508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D3B80DA-6F29-E68A-BA3C-06426AA7C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212022"/>
              </p:ext>
            </p:extLst>
          </p:nvPr>
        </p:nvGraphicFramePr>
        <p:xfrm>
          <a:off x="1502867" y="1073845"/>
          <a:ext cx="9184183" cy="485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633">
                  <a:extLst>
                    <a:ext uri="{9D8B030D-6E8A-4147-A177-3AD203B41FA5}">
                      <a16:colId xmlns:a16="http://schemas.microsoft.com/office/drawing/2014/main" val="197809744"/>
                    </a:ext>
                  </a:extLst>
                </a:gridCol>
                <a:gridCol w="6204550">
                  <a:extLst>
                    <a:ext uri="{9D8B030D-6E8A-4147-A177-3AD203B41FA5}">
                      <a16:colId xmlns:a16="http://schemas.microsoft.com/office/drawing/2014/main" val="971415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6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Obtención de muestras</a:t>
                      </a:r>
                      <a:endParaRPr lang="es-PE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Colecta de larvas, pupas y adultos </a:t>
                      </a:r>
                      <a:r>
                        <a:rPr lang="es-MX" sz="18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micosados</a:t>
                      </a:r>
                      <a:r>
                        <a:rPr lang="es-MX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s-MX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s-MX" sz="18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hemipterus</a:t>
                      </a:r>
                      <a:r>
                        <a:rPr lang="es-MX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 plantaciones de plátano ubicadas en el Centro Poblado </a:t>
                      </a:r>
                      <a:r>
                        <a:rPr lang="es-MX" sz="18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Ñunya</a:t>
                      </a:r>
                      <a:r>
                        <a:rPr lang="es-MX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Jalca.</a:t>
                      </a:r>
                      <a:endParaRPr lang="es-PE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2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Obtención de aislados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Metodología utilizada por Torres et al. (2016), Los adultos con signos de micosis serán desinfectados mediante inmersión en una solución de hipoclorito de sodio al 0,5 % durante 5 minutos y puestos en cámaras húmedas por 8 días.</a:t>
                      </a:r>
                      <a:endParaRPr lang="es-PE" sz="18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endParaRPr lang="es-P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02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Caracterización morfológica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Descripción de estructuras reproductivas de los aislados de acuerdo con </a:t>
                      </a:r>
                      <a:r>
                        <a:rPr lang="es-MX" sz="1800" b="0" i="0" u="none" strike="noStrike" kern="1200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Bischoff</a:t>
                      </a:r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 (2009) y </a:t>
                      </a:r>
                      <a:r>
                        <a:rPr lang="es-MX" sz="1800" b="0" i="0" u="none" strike="noStrike" kern="1200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Humber</a:t>
                      </a:r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(2012). </a:t>
                      </a:r>
                      <a:r>
                        <a:rPr lang="es-MX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Microcultivo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montaje de muestra y fotografiado de estructuras (Hifas, </a:t>
                      </a:r>
                      <a:r>
                        <a:rPr lang="es-MX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conidias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conidióforos)</a:t>
                      </a:r>
                      <a:br>
                        <a:rPr lang="es-MX" dirty="0"/>
                      </a:br>
                      <a:endParaRPr lang="es-P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34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Caracterización fisiológica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Evaluación de variables: crecimiento micelial (MC); producción de </a:t>
                      </a:r>
                      <a:r>
                        <a:rPr lang="es-MX" sz="1800" b="0" i="0" u="none" strike="noStrike" kern="1200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conidias</a:t>
                      </a:r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s-MX" sz="1800" b="0" i="0" u="none" strike="noStrike" kern="1200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PdC</a:t>
                      </a:r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); germinación de conidios (</a:t>
                      </a:r>
                      <a:r>
                        <a:rPr lang="es-MX" sz="1800" b="0" i="0" u="none" strike="noStrike" kern="1200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GdC</a:t>
                      </a:r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lang="es-PE" sz="1800" b="0" i="0" u="none" strike="noStrike" kern="1200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186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95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12E9-A2B5-B26A-47D1-2A83E587F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A90B219-D9F4-B9C9-6894-7D5BCD37B2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89DF0459-BF27-02B0-B6ED-F385D86B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B07B6D-7C07-FEEF-F89D-B9FBC995DB97}"/>
              </a:ext>
            </a:extLst>
          </p:cNvPr>
          <p:cNvSpPr txBox="1"/>
          <p:nvPr/>
        </p:nvSpPr>
        <p:spPr>
          <a:xfrm>
            <a:off x="628650" y="273400"/>
            <a:ext cx="73857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 METODOLOGÍA </a:t>
            </a:r>
          </a:p>
        </p:txBody>
      </p:sp>
      <p:sp>
        <p:nvSpPr>
          <p:cNvPr id="3" name="Marcador de fecha 16">
            <a:extLst>
              <a:ext uri="{FF2B5EF4-FFF2-40B4-BE49-F238E27FC236}">
                <a16:creationId xmlns:a16="http://schemas.microsoft.com/office/drawing/2014/main" id="{AB5D5D00-E1F8-568D-843C-C8894DB8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DE5DF6C-5501-D456-DAB9-1D57C1552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387717"/>
              </p:ext>
            </p:extLst>
          </p:nvPr>
        </p:nvGraphicFramePr>
        <p:xfrm>
          <a:off x="1421359" y="1445320"/>
          <a:ext cx="9184183" cy="3982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633">
                  <a:extLst>
                    <a:ext uri="{9D8B030D-6E8A-4147-A177-3AD203B41FA5}">
                      <a16:colId xmlns:a16="http://schemas.microsoft.com/office/drawing/2014/main" val="197809744"/>
                    </a:ext>
                  </a:extLst>
                </a:gridCol>
                <a:gridCol w="6204550">
                  <a:extLst>
                    <a:ext uri="{9D8B030D-6E8A-4147-A177-3AD203B41FA5}">
                      <a16:colId xmlns:a16="http://schemas.microsoft.com/office/drawing/2014/main" val="971415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64465"/>
                  </a:ext>
                </a:extLst>
              </a:tr>
              <a:tr h="867608">
                <a:tc>
                  <a:txBody>
                    <a:bodyPr/>
                    <a:lstStyle/>
                    <a:p>
                      <a:endParaRPr lang="es-PE" sz="1800" b="0" i="0" u="none" strike="noStrike" kern="1200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PE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Evaluación de patogenicidad </a:t>
                      </a:r>
                      <a:br>
                        <a:rPr lang="es-PE" dirty="0"/>
                      </a:br>
                      <a:endParaRPr lang="es-PE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10 adultos de </a:t>
                      </a:r>
                      <a:r>
                        <a:rPr lang="es-MX" sz="18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 </a:t>
                      </a:r>
                      <a:r>
                        <a:rPr lang="es-MX" sz="1800" b="0" i="1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hemipterus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serán sumergidos durante un minuto en una suspensión conidial de </a:t>
                      </a:r>
                      <a:r>
                        <a:rPr lang="es-MX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1 x 10⁷ conidios por mililitro, complementada con </a:t>
                      </a:r>
                      <a:r>
                        <a:rPr lang="es-MX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Tween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80 al 0,1 %.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2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800" b="0" i="0" u="none" strike="noStrike" kern="1200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MX" sz="18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Producción de conidios en arroz </a:t>
                      </a:r>
                      <a:br>
                        <a:rPr lang="es-MX" dirty="0"/>
                      </a:br>
                      <a:endParaRPr lang="es-PE" sz="18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Se emplearán 50 gramos de arroz depositados en bolsas de </a:t>
                      </a:r>
                      <a:r>
                        <a:rPr lang="es-MX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polipapel</a:t>
                      </a:r>
                      <a:r>
                        <a:rPr lang="es-MX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que serán inoculadas con 5 mililitros de suspensión de 1 x 10⁶ conidios por mililitro, e incubadas durante 15 días a una temperatura constante de 25 ± 1 °C y bajo un fotoperiodo de 12 horas luz y 12 horas oscuridad.</a:t>
                      </a:r>
                      <a:endParaRPr lang="es-PE" sz="18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endParaRPr lang="es-P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02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59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9843-5E77-A8FD-1BF8-0FE514EAE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DAD901-F49A-E9DD-F6F5-9B30AF494A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1CC3D1DD-469F-F4FE-C5D6-9101CBDD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75674" cy="382099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4A6CD7-8259-FF19-3D7C-BEDD1D5F486C}"/>
              </a:ext>
            </a:extLst>
          </p:cNvPr>
          <p:cNvSpPr txBox="1"/>
          <p:nvPr/>
        </p:nvSpPr>
        <p:spPr>
          <a:xfrm>
            <a:off x="893614" y="166168"/>
            <a:ext cx="74316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ANÁLISIS DE DATOS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1D3989B-D25D-F6B3-CCEF-2F362E8EBCD4}"/>
              </a:ext>
            </a:extLst>
          </p:cNvPr>
          <p:cNvSpPr txBox="1"/>
          <p:nvPr/>
        </p:nvSpPr>
        <p:spPr>
          <a:xfrm>
            <a:off x="669410" y="1115985"/>
            <a:ext cx="5988566" cy="535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datos correspondientes al crecimiento micelial (CM), producción de conidios (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PdC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medio SDA,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PdC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arroz y mortalidad serán analizados empleando un diseño completamente aleatorizado (DCA), considerando n tratamientos (aislamientos). El tiempo en que se alcance el 50 y el 90% de la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GdC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(TG50 y TG90) se estimara mediante regresión logística.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comparación entre tratamientos se llevará a cabo mediante un análisis de varianza (ANOVA) con un nivel de significancia de α = 0.05, seguido por la prueba de comparaciones múltiples de Tukey, utilizando el software R. </a:t>
            </a:r>
            <a:br>
              <a:rPr lang="es-MX" sz="1600" dirty="0"/>
            </a:br>
            <a:br>
              <a:rPr lang="es-MX" sz="1600" dirty="0"/>
            </a:br>
            <a:endParaRPr lang="es-P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Marcador de fecha 16">
            <a:extLst>
              <a:ext uri="{FF2B5EF4-FFF2-40B4-BE49-F238E27FC236}">
                <a16:creationId xmlns:a16="http://schemas.microsoft.com/office/drawing/2014/main" id="{0A48A855-4B77-78F6-7E61-CDFBD83D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4DD460-2B44-9155-143C-53DB6749E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9" t="7100" r="19422" b="3323"/>
          <a:stretch>
            <a:fillRect/>
          </a:stretch>
        </p:blipFill>
        <p:spPr>
          <a:xfrm>
            <a:off x="7327386" y="1510903"/>
            <a:ext cx="4075892" cy="383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8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DCCD-10CE-755A-36CD-C7B7A1AB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73D5BE2-A97B-ABD0-33B6-A04701630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437A0587-75D2-0E44-A2D3-DAADF79B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59CA22-514B-9F8E-72A5-6B429831712D}"/>
              </a:ext>
            </a:extLst>
          </p:cNvPr>
          <p:cNvSpPr txBox="1"/>
          <p:nvPr/>
        </p:nvSpPr>
        <p:spPr>
          <a:xfrm>
            <a:off x="1041988" y="254734"/>
            <a:ext cx="7867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VI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REFERENCIAS BIBLIOGRÁFICAS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112CD5-2C46-C12B-D639-46F083ED1BFB}"/>
              </a:ext>
            </a:extLst>
          </p:cNvPr>
          <p:cNvSpPr txBox="1"/>
          <p:nvPr/>
        </p:nvSpPr>
        <p:spPr>
          <a:xfrm>
            <a:off x="676022" y="970042"/>
            <a:ext cx="110685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0000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Algarate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C., &amp; Marianella, O. (2023). Determinación del efecto de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anisopliae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el control de adultos de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Cryptocephalus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 condiciones de laboratorio.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https://hdl.handle.net/20.500.14414/17611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000"/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000"/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Baró, Y., Schuster, C., Gato, Y., Márquez, M. E., &amp;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Leclerque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(2022).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virulence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Cuba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sweet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potato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weevil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Cylas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formicarius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Fabricius (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Coleoptera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Brentidae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Microbiology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132(5), 3705-3716. https://doi.org/10.1111/jam.15460 </a:t>
            </a:r>
            <a:b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Gerónimo-Torres, J. D. C., Torres-de-la-Cruz, M., Cruz, M. P.,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De-la-Cruz-Pérez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Ortiz-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garcía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F., &amp;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Cappello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-García, S. (2016). Caracterización de aislamientos nativos de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bassiana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su patogenicidad hacia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Hypothenemus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hampei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 Tabasco, México. Revista Colombiana de Entomología, 42(1), 28-35. </a:t>
            </a:r>
            <a:b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Humber, R. A. (2012). Chapter VI - Identification of entomopathogenic fungi. En L. A. Lacey (Ed.), Manual of Techniques in Invertebrate Pathology (Second Edition) (pp. 151-187). Academic Press. https://doi.org/10.1016/B978-0-12-386899- 2.00006-3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000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Mayo Hernández, M. Á. (2024). Caracterización de aislamientos nativos de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para el control biológico de la chinche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Antiteuchus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Tripterus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Hemiptera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Pentatomidae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Tabasco, México. https://ri.ujat.mx/handle/200.500.12107/4470 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fecha 16">
            <a:extLst>
              <a:ext uri="{FF2B5EF4-FFF2-40B4-BE49-F238E27FC236}">
                <a16:creationId xmlns:a16="http://schemas.microsoft.com/office/drawing/2014/main" id="{1A0DFEBF-4B98-780F-9021-290C4919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1352590" cy="416409"/>
          </a:xfrm>
        </p:spPr>
        <p:txBody>
          <a:bodyPr/>
          <a:lstStyle/>
          <a:p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r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0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E5FEFF-27F8-466E-B45D-55813929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40227-7BB2-49D8-91E6-652400A400A2}" type="datetime1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EDF57-5842-414F-A9D6-93F96D1E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94F4E-7F99-45AC-B67F-DC2FBF4A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F81E-29E0-4D23-92E9-9A334C8D50B4}" type="slidenum">
              <a:rPr lang="es-PE" smtClean="0"/>
              <a:t>9</a:t>
            </a:fld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AFB5763-BCE1-43D7-9C92-596192F669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28" r="17983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808291A4-CB4A-4F80-92A6-64E2E45456DA}"/>
              </a:ext>
            </a:extLst>
          </p:cNvPr>
          <p:cNvGrpSpPr/>
          <p:nvPr/>
        </p:nvGrpSpPr>
        <p:grpSpPr>
          <a:xfrm>
            <a:off x="1843767" y="679207"/>
            <a:ext cx="3250005" cy="956805"/>
            <a:chOff x="319767" y="171207"/>
            <a:chExt cx="3250005" cy="956805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D9090B0-EC0E-49E1-97DD-1869C6C0FB1E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01"/>
            <a:stretch/>
          </p:blipFill>
          <p:spPr bwMode="auto">
            <a:xfrm>
              <a:off x="1320800" y="171207"/>
              <a:ext cx="2248972" cy="956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Logotipo - UNTRM">
              <a:extLst>
                <a:ext uri="{FF2B5EF4-FFF2-40B4-BE49-F238E27FC236}">
                  <a16:creationId xmlns:a16="http://schemas.microsoft.com/office/drawing/2014/main" id="{C72DDAFE-C891-4C76-A1A2-60D4219665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199"/>
            <a:stretch/>
          </p:blipFill>
          <p:spPr bwMode="auto">
            <a:xfrm>
              <a:off x="319767" y="171207"/>
              <a:ext cx="1001033" cy="956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9FF2E388-05E4-474B-B57F-231716637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567" y="528312"/>
            <a:ext cx="1150975" cy="11077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BA2D85A-4DB1-4D1F-9F9E-BD015589E5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392" y="780230"/>
            <a:ext cx="2082682" cy="7623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A141841-5411-484D-AC06-ED17A434BF92}"/>
              </a:ext>
            </a:extLst>
          </p:cNvPr>
          <p:cNvSpPr txBox="1"/>
          <p:nvPr/>
        </p:nvSpPr>
        <p:spPr>
          <a:xfrm>
            <a:off x="3330895" y="2947342"/>
            <a:ext cx="49952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199389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1103</Words>
  <Application>Microsoft Office PowerPoint</Application>
  <PresentationFormat>Panorámica</PresentationFormat>
  <Paragraphs>87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JHODANY PAREJAS GONZALES</dc:creator>
  <cp:lastModifiedBy>Edwin Mondragon</cp:lastModifiedBy>
  <cp:revision>27</cp:revision>
  <dcterms:created xsi:type="dcterms:W3CDTF">2025-05-26T02:13:01Z</dcterms:created>
  <dcterms:modified xsi:type="dcterms:W3CDTF">2025-07-15T16:25:59Z</dcterms:modified>
</cp:coreProperties>
</file>