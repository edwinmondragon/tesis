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3"/>
  </p:notesMasterIdLst>
  <p:sldIdLst>
    <p:sldId id="256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0693400" cy="7562850"/>
  <p:notesSz cx="10693400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0" y="5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DF0F28-4A9D-465E-9450-C1FAE5405717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PE"/>
        </a:p>
      </dgm:t>
    </dgm:pt>
    <dgm:pt modelId="{6672E0E5-5C08-45F2-866E-F7C5D4CA9B06}">
      <dgm:prSet phldrT="[Texto]" custT="1"/>
      <dgm:spPr/>
      <dgm:t>
        <a:bodyPr/>
        <a:lstStyle/>
        <a:p>
          <a:pPr>
            <a:buNone/>
          </a:pPr>
          <a:r>
            <a:rPr lang="es-MX"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Lugar de </a:t>
          </a:r>
          <a:r>
            <a:rPr lang="es-MX" sz="1600" b="1" i="0" u="none" strike="noStrike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ejecución</a:t>
          </a:r>
          <a:r>
            <a:rPr lang="es-MX"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 o </a:t>
          </a:r>
          <a:r>
            <a:rPr lang="es-MX" sz="1600" b="1" i="0" u="none" strike="noStrike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ámbito</a:t>
          </a:r>
          <a:r>
            <a:rPr lang="es-MX"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: </a:t>
          </a:r>
          <a:r>
            <a:rPr lang="es-MX"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Actividades en campo y laboratorio.</a:t>
          </a:r>
          <a:endParaRPr lang="es-PE" sz="1600" b="1" i="0" u="none" strike="noStrike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  <a:sym typeface="Arial"/>
          </a:endParaRPr>
        </a:p>
      </dgm:t>
    </dgm:pt>
    <dgm:pt modelId="{7935035F-FB5D-44A6-A831-9A0D9C1BE0C0}" type="parTrans" cxnId="{F9A403DB-4DD7-4099-92F0-A594B101B1F7}">
      <dgm:prSet/>
      <dgm:spPr/>
      <dgm:t>
        <a:bodyPr/>
        <a:lstStyle/>
        <a:p>
          <a:endParaRPr lang="es-PE"/>
        </a:p>
      </dgm:t>
    </dgm:pt>
    <dgm:pt modelId="{90A7A62B-061D-4D62-8940-67DBF3ACBD18}" type="sibTrans" cxnId="{F9A403DB-4DD7-4099-92F0-A594B101B1F7}">
      <dgm:prSet/>
      <dgm:spPr/>
      <dgm:t>
        <a:bodyPr/>
        <a:lstStyle/>
        <a:p>
          <a:endParaRPr lang="es-PE"/>
        </a:p>
      </dgm:t>
    </dgm:pt>
    <dgm:pt modelId="{CC790B75-6727-46FE-9245-F6893FC1062F}">
      <dgm:prSet phldrT="[Texto]" custT="1"/>
      <dgm:spPr/>
      <dgm:t>
        <a:bodyPr/>
        <a:lstStyle/>
        <a:p>
          <a:pPr>
            <a:buNone/>
          </a:pPr>
          <a:r>
            <a:rPr lang="es-MX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Nivel y tipo de investigación: </a:t>
          </a:r>
          <a:r>
            <a:rPr lang="es-MX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Nivel descriptivo y tipo básica.</a:t>
          </a:r>
          <a:endParaRPr lang="es-PE" sz="1600" b="1" i="0" u="none" strike="noStrike" kern="1200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</a:endParaRPr>
        </a:p>
      </dgm:t>
    </dgm:pt>
    <dgm:pt modelId="{847167C1-4781-4705-BC69-E0206D9F6897}" type="parTrans" cxnId="{F7C013AC-6CB1-4FE0-B1B7-CC9FBF453B0B}">
      <dgm:prSet/>
      <dgm:spPr/>
      <dgm:t>
        <a:bodyPr/>
        <a:lstStyle/>
        <a:p>
          <a:endParaRPr lang="es-PE"/>
        </a:p>
      </dgm:t>
    </dgm:pt>
    <dgm:pt modelId="{34C2EC67-B922-4068-B485-B6811D405E6D}" type="sibTrans" cxnId="{F7C013AC-6CB1-4FE0-B1B7-CC9FBF453B0B}">
      <dgm:prSet/>
      <dgm:spPr/>
      <dgm:t>
        <a:bodyPr/>
        <a:lstStyle/>
        <a:p>
          <a:endParaRPr lang="es-PE"/>
        </a:p>
      </dgm:t>
    </dgm:pt>
    <dgm:pt modelId="{445DAB4A-A412-44E3-8458-969EFBE1A7FE}">
      <dgm:prSet phldrT="[Texto]" custT="1"/>
      <dgm:spPr/>
      <dgm:t>
        <a:bodyPr/>
        <a:lstStyle/>
        <a:p>
          <a:pPr>
            <a:buNone/>
          </a:pPr>
          <a:r>
            <a:rPr lang="es-PE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Población, muestra y muestreo: (</a:t>
          </a:r>
          <a:r>
            <a:rPr lang="es-PE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Conjunto de parcelas, Adultos </a:t>
          </a:r>
          <a:r>
            <a:rPr lang="es-PE" sz="1600" b="0" i="0" u="none" strike="noStrike" kern="1200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micosados</a:t>
          </a:r>
          <a:r>
            <a:rPr lang="es-PE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, dirigido).</a:t>
          </a:r>
          <a:endParaRPr lang="es-PE" sz="1600" b="1" i="0" u="none" strike="noStrike" kern="1200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</a:endParaRPr>
        </a:p>
      </dgm:t>
    </dgm:pt>
    <dgm:pt modelId="{F84C5296-18CA-4C4D-8662-DC32F9D5567E}" type="parTrans" cxnId="{F36A9C7F-3BD5-4DF6-AFC7-72FF471CAB25}">
      <dgm:prSet/>
      <dgm:spPr/>
      <dgm:t>
        <a:bodyPr/>
        <a:lstStyle/>
        <a:p>
          <a:endParaRPr lang="es-PE"/>
        </a:p>
      </dgm:t>
    </dgm:pt>
    <dgm:pt modelId="{69606DF1-8C88-4AB6-AD31-C35E15FA4834}" type="sibTrans" cxnId="{F36A9C7F-3BD5-4DF6-AFC7-72FF471CAB25}">
      <dgm:prSet/>
      <dgm:spPr/>
      <dgm:t>
        <a:bodyPr/>
        <a:lstStyle/>
        <a:p>
          <a:endParaRPr lang="es-PE"/>
        </a:p>
      </dgm:t>
    </dgm:pt>
    <dgm:pt modelId="{FF947F16-7132-4A8F-816E-6243A2A3D4EE}" type="pres">
      <dgm:prSet presAssocID="{8EDF0F28-4A9D-465E-9450-C1FAE5405717}" presName="Name0" presStyleCnt="0">
        <dgm:presLayoutVars>
          <dgm:chMax val="7"/>
          <dgm:chPref val="7"/>
          <dgm:dir/>
        </dgm:presLayoutVars>
      </dgm:prSet>
      <dgm:spPr/>
    </dgm:pt>
    <dgm:pt modelId="{521F80EE-2BC4-4661-9166-75CE44E15F9E}" type="pres">
      <dgm:prSet presAssocID="{8EDF0F28-4A9D-465E-9450-C1FAE5405717}" presName="Name1" presStyleCnt="0"/>
      <dgm:spPr/>
    </dgm:pt>
    <dgm:pt modelId="{13A3CD7B-3B5E-44B4-8642-9C0F8AA284B6}" type="pres">
      <dgm:prSet presAssocID="{8EDF0F28-4A9D-465E-9450-C1FAE5405717}" presName="cycle" presStyleCnt="0"/>
      <dgm:spPr/>
    </dgm:pt>
    <dgm:pt modelId="{AD2C4B3A-5DDC-4D70-A3CB-3E8DFA8299C3}" type="pres">
      <dgm:prSet presAssocID="{8EDF0F28-4A9D-465E-9450-C1FAE5405717}" presName="srcNode" presStyleLbl="node1" presStyleIdx="0" presStyleCnt="3"/>
      <dgm:spPr/>
    </dgm:pt>
    <dgm:pt modelId="{17A03520-7141-4221-AE31-01857E1548AD}" type="pres">
      <dgm:prSet presAssocID="{8EDF0F28-4A9D-465E-9450-C1FAE5405717}" presName="conn" presStyleLbl="parChTrans1D2" presStyleIdx="0" presStyleCnt="1"/>
      <dgm:spPr/>
    </dgm:pt>
    <dgm:pt modelId="{08166BB1-89D1-4DA8-8955-E1D8AA94206C}" type="pres">
      <dgm:prSet presAssocID="{8EDF0F28-4A9D-465E-9450-C1FAE5405717}" presName="extraNode" presStyleLbl="node1" presStyleIdx="0" presStyleCnt="3"/>
      <dgm:spPr/>
    </dgm:pt>
    <dgm:pt modelId="{46BB1E74-7818-4146-84F9-85FA3318D7A3}" type="pres">
      <dgm:prSet presAssocID="{8EDF0F28-4A9D-465E-9450-C1FAE5405717}" presName="dstNode" presStyleLbl="node1" presStyleIdx="0" presStyleCnt="3"/>
      <dgm:spPr/>
    </dgm:pt>
    <dgm:pt modelId="{F3A6120C-8721-4FDF-8998-B1E4C5826708}" type="pres">
      <dgm:prSet presAssocID="{6672E0E5-5C08-45F2-866E-F7C5D4CA9B06}" presName="text_1" presStyleLbl="node1" presStyleIdx="0" presStyleCnt="3">
        <dgm:presLayoutVars>
          <dgm:bulletEnabled val="1"/>
        </dgm:presLayoutVars>
      </dgm:prSet>
      <dgm:spPr/>
    </dgm:pt>
    <dgm:pt modelId="{5F596B90-5899-430C-9DB4-460993C5F41B}" type="pres">
      <dgm:prSet presAssocID="{6672E0E5-5C08-45F2-866E-F7C5D4CA9B06}" presName="accent_1" presStyleCnt="0"/>
      <dgm:spPr/>
    </dgm:pt>
    <dgm:pt modelId="{B5FEF8E6-BB61-44FD-8795-1C3059990B1B}" type="pres">
      <dgm:prSet presAssocID="{6672E0E5-5C08-45F2-866E-F7C5D4CA9B06}" presName="accentRepeatNode" presStyleLbl="solidFgAcc1" presStyleIdx="0" presStyleCnt="3"/>
      <dgm:spPr/>
    </dgm:pt>
    <dgm:pt modelId="{7DB20096-DC33-4747-9AF1-17EC385958C7}" type="pres">
      <dgm:prSet presAssocID="{CC790B75-6727-46FE-9245-F6893FC1062F}" presName="text_2" presStyleLbl="node1" presStyleIdx="1" presStyleCnt="3">
        <dgm:presLayoutVars>
          <dgm:bulletEnabled val="1"/>
        </dgm:presLayoutVars>
      </dgm:prSet>
      <dgm:spPr/>
    </dgm:pt>
    <dgm:pt modelId="{ED4A10BC-D802-473C-9847-E453E36CC2CA}" type="pres">
      <dgm:prSet presAssocID="{CC790B75-6727-46FE-9245-F6893FC1062F}" presName="accent_2" presStyleCnt="0"/>
      <dgm:spPr/>
    </dgm:pt>
    <dgm:pt modelId="{41325D7C-5005-49C9-AE2B-1E6C9C1335CB}" type="pres">
      <dgm:prSet presAssocID="{CC790B75-6727-46FE-9245-F6893FC1062F}" presName="accentRepeatNode" presStyleLbl="solidFgAcc1" presStyleIdx="1" presStyleCnt="3"/>
      <dgm:spPr/>
    </dgm:pt>
    <dgm:pt modelId="{54308633-C204-4F7B-BA8A-F2D1E17A3F0D}" type="pres">
      <dgm:prSet presAssocID="{445DAB4A-A412-44E3-8458-969EFBE1A7FE}" presName="text_3" presStyleLbl="node1" presStyleIdx="2" presStyleCnt="3">
        <dgm:presLayoutVars>
          <dgm:bulletEnabled val="1"/>
        </dgm:presLayoutVars>
      </dgm:prSet>
      <dgm:spPr/>
    </dgm:pt>
    <dgm:pt modelId="{13C68C97-77E9-4486-9B2C-5D15508DAF35}" type="pres">
      <dgm:prSet presAssocID="{445DAB4A-A412-44E3-8458-969EFBE1A7FE}" presName="accent_3" presStyleCnt="0"/>
      <dgm:spPr/>
    </dgm:pt>
    <dgm:pt modelId="{5301F2C5-819C-421B-B46D-01537FF1D86A}" type="pres">
      <dgm:prSet presAssocID="{445DAB4A-A412-44E3-8458-969EFBE1A7FE}" presName="accentRepeatNode" presStyleLbl="solidFgAcc1" presStyleIdx="2" presStyleCnt="3"/>
      <dgm:spPr/>
    </dgm:pt>
  </dgm:ptLst>
  <dgm:cxnLst>
    <dgm:cxn modelId="{6C06EF21-9898-48FB-B357-E0E56B48952C}" type="presOf" srcId="{6672E0E5-5C08-45F2-866E-F7C5D4CA9B06}" destId="{F3A6120C-8721-4FDF-8998-B1E4C5826708}" srcOrd="0" destOrd="0" presId="urn:microsoft.com/office/officeart/2008/layout/VerticalCurvedList"/>
    <dgm:cxn modelId="{D6347827-9417-4A07-AE24-0C867CB57299}" type="presOf" srcId="{445DAB4A-A412-44E3-8458-969EFBE1A7FE}" destId="{54308633-C204-4F7B-BA8A-F2D1E17A3F0D}" srcOrd="0" destOrd="0" presId="urn:microsoft.com/office/officeart/2008/layout/VerticalCurvedList"/>
    <dgm:cxn modelId="{F36A9C7F-3BD5-4DF6-AFC7-72FF471CAB25}" srcId="{8EDF0F28-4A9D-465E-9450-C1FAE5405717}" destId="{445DAB4A-A412-44E3-8458-969EFBE1A7FE}" srcOrd="2" destOrd="0" parTransId="{F84C5296-18CA-4C4D-8662-DC32F9D5567E}" sibTransId="{69606DF1-8C88-4AB6-AD31-C35E15FA4834}"/>
    <dgm:cxn modelId="{48102081-7A54-4660-8D00-46A7C1C86498}" type="presOf" srcId="{90A7A62B-061D-4D62-8940-67DBF3ACBD18}" destId="{17A03520-7141-4221-AE31-01857E1548AD}" srcOrd="0" destOrd="0" presId="urn:microsoft.com/office/officeart/2008/layout/VerticalCurvedList"/>
    <dgm:cxn modelId="{F7C013AC-6CB1-4FE0-B1B7-CC9FBF453B0B}" srcId="{8EDF0F28-4A9D-465E-9450-C1FAE5405717}" destId="{CC790B75-6727-46FE-9245-F6893FC1062F}" srcOrd="1" destOrd="0" parTransId="{847167C1-4781-4705-BC69-E0206D9F6897}" sibTransId="{34C2EC67-B922-4068-B485-B6811D405E6D}"/>
    <dgm:cxn modelId="{598319C2-3EE1-438D-A9C9-E4E965DAE2E0}" type="presOf" srcId="{CC790B75-6727-46FE-9245-F6893FC1062F}" destId="{7DB20096-DC33-4747-9AF1-17EC385958C7}" srcOrd="0" destOrd="0" presId="urn:microsoft.com/office/officeart/2008/layout/VerticalCurvedList"/>
    <dgm:cxn modelId="{C1E706C7-E6A5-4FBB-A0DA-F95EE349D6A3}" type="presOf" srcId="{8EDF0F28-4A9D-465E-9450-C1FAE5405717}" destId="{FF947F16-7132-4A8F-816E-6243A2A3D4EE}" srcOrd="0" destOrd="0" presId="urn:microsoft.com/office/officeart/2008/layout/VerticalCurvedList"/>
    <dgm:cxn modelId="{F9A403DB-4DD7-4099-92F0-A594B101B1F7}" srcId="{8EDF0F28-4A9D-465E-9450-C1FAE5405717}" destId="{6672E0E5-5C08-45F2-866E-F7C5D4CA9B06}" srcOrd="0" destOrd="0" parTransId="{7935035F-FB5D-44A6-A831-9A0D9C1BE0C0}" sibTransId="{90A7A62B-061D-4D62-8940-67DBF3ACBD18}"/>
    <dgm:cxn modelId="{D06C3F88-F1E5-487A-96B0-1B725A7FC227}" type="presParOf" srcId="{FF947F16-7132-4A8F-816E-6243A2A3D4EE}" destId="{521F80EE-2BC4-4661-9166-75CE44E15F9E}" srcOrd="0" destOrd="0" presId="urn:microsoft.com/office/officeart/2008/layout/VerticalCurvedList"/>
    <dgm:cxn modelId="{3DE96828-54BE-4E26-B96F-660C8DC4FC0F}" type="presParOf" srcId="{521F80EE-2BC4-4661-9166-75CE44E15F9E}" destId="{13A3CD7B-3B5E-44B4-8642-9C0F8AA284B6}" srcOrd="0" destOrd="0" presId="urn:microsoft.com/office/officeart/2008/layout/VerticalCurvedList"/>
    <dgm:cxn modelId="{F22D32C4-BDF8-4620-9024-14ABC9358313}" type="presParOf" srcId="{13A3CD7B-3B5E-44B4-8642-9C0F8AA284B6}" destId="{AD2C4B3A-5DDC-4D70-A3CB-3E8DFA8299C3}" srcOrd="0" destOrd="0" presId="urn:microsoft.com/office/officeart/2008/layout/VerticalCurvedList"/>
    <dgm:cxn modelId="{1F0F9320-6DC0-450E-B350-A6FD5852AD96}" type="presParOf" srcId="{13A3CD7B-3B5E-44B4-8642-9C0F8AA284B6}" destId="{17A03520-7141-4221-AE31-01857E1548AD}" srcOrd="1" destOrd="0" presId="urn:microsoft.com/office/officeart/2008/layout/VerticalCurvedList"/>
    <dgm:cxn modelId="{54239CAC-8A3A-493E-8FF7-1B869427F856}" type="presParOf" srcId="{13A3CD7B-3B5E-44B4-8642-9C0F8AA284B6}" destId="{08166BB1-89D1-4DA8-8955-E1D8AA94206C}" srcOrd="2" destOrd="0" presId="urn:microsoft.com/office/officeart/2008/layout/VerticalCurvedList"/>
    <dgm:cxn modelId="{999EA6C0-5E15-4049-9EBB-7E186C927767}" type="presParOf" srcId="{13A3CD7B-3B5E-44B4-8642-9C0F8AA284B6}" destId="{46BB1E74-7818-4146-84F9-85FA3318D7A3}" srcOrd="3" destOrd="0" presId="urn:microsoft.com/office/officeart/2008/layout/VerticalCurvedList"/>
    <dgm:cxn modelId="{DA5E9441-EE32-4908-81A9-B5E70B9E9904}" type="presParOf" srcId="{521F80EE-2BC4-4661-9166-75CE44E15F9E}" destId="{F3A6120C-8721-4FDF-8998-B1E4C5826708}" srcOrd="1" destOrd="0" presId="urn:microsoft.com/office/officeart/2008/layout/VerticalCurvedList"/>
    <dgm:cxn modelId="{A8E4CC65-00A4-4F8D-9119-F321F7063CB8}" type="presParOf" srcId="{521F80EE-2BC4-4661-9166-75CE44E15F9E}" destId="{5F596B90-5899-430C-9DB4-460993C5F41B}" srcOrd="2" destOrd="0" presId="urn:microsoft.com/office/officeart/2008/layout/VerticalCurvedList"/>
    <dgm:cxn modelId="{9CD7FC18-8A33-4489-A9D3-97C6BBF0174B}" type="presParOf" srcId="{5F596B90-5899-430C-9DB4-460993C5F41B}" destId="{B5FEF8E6-BB61-44FD-8795-1C3059990B1B}" srcOrd="0" destOrd="0" presId="urn:microsoft.com/office/officeart/2008/layout/VerticalCurvedList"/>
    <dgm:cxn modelId="{B31BDAB4-4F23-49C2-A3FA-8B5D308BABFF}" type="presParOf" srcId="{521F80EE-2BC4-4661-9166-75CE44E15F9E}" destId="{7DB20096-DC33-4747-9AF1-17EC385958C7}" srcOrd="3" destOrd="0" presId="urn:microsoft.com/office/officeart/2008/layout/VerticalCurvedList"/>
    <dgm:cxn modelId="{3C39B0C1-E543-414E-886E-E66A20716021}" type="presParOf" srcId="{521F80EE-2BC4-4661-9166-75CE44E15F9E}" destId="{ED4A10BC-D802-473C-9847-E453E36CC2CA}" srcOrd="4" destOrd="0" presId="urn:microsoft.com/office/officeart/2008/layout/VerticalCurvedList"/>
    <dgm:cxn modelId="{473B2282-DD39-4706-B6A8-012F312FDD1B}" type="presParOf" srcId="{ED4A10BC-D802-473C-9847-E453E36CC2CA}" destId="{41325D7C-5005-49C9-AE2B-1E6C9C1335CB}" srcOrd="0" destOrd="0" presId="urn:microsoft.com/office/officeart/2008/layout/VerticalCurvedList"/>
    <dgm:cxn modelId="{F8814762-2A35-4FB1-B353-E6CD448C4002}" type="presParOf" srcId="{521F80EE-2BC4-4661-9166-75CE44E15F9E}" destId="{54308633-C204-4F7B-BA8A-F2D1E17A3F0D}" srcOrd="5" destOrd="0" presId="urn:microsoft.com/office/officeart/2008/layout/VerticalCurvedList"/>
    <dgm:cxn modelId="{8451EFBF-81B0-4EED-9244-F29B2E1BDD05}" type="presParOf" srcId="{521F80EE-2BC4-4661-9166-75CE44E15F9E}" destId="{13C68C97-77E9-4486-9B2C-5D15508DAF35}" srcOrd="6" destOrd="0" presId="urn:microsoft.com/office/officeart/2008/layout/VerticalCurvedList"/>
    <dgm:cxn modelId="{9B36EA4A-C835-49F6-B0DB-424D51FF7E86}" type="presParOf" srcId="{13C68C97-77E9-4486-9B2C-5D15508DAF35}" destId="{5301F2C5-819C-421B-B46D-01537FF1D86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60E015-133C-4308-988E-E398C29B6FEA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PE"/>
        </a:p>
      </dgm:t>
    </dgm:pt>
    <dgm:pt modelId="{231B2D0A-2B22-4CBB-B0BE-5BFD4083F15F}">
      <dgm:prSet phldrT="[Texto]" custT="1"/>
      <dgm:spPr>
        <a:solidFill>
          <a:schemeClr val="tx2"/>
        </a:solidFill>
      </dgm:spPr>
      <dgm:t>
        <a:bodyPr/>
        <a:lstStyle/>
        <a:p>
          <a:r>
            <a:rPr lang="es-PE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Independientes</a:t>
          </a:r>
        </a:p>
      </dgm:t>
    </dgm:pt>
    <dgm:pt modelId="{77B72CA9-8730-4382-BFBB-E231FCD796F7}" type="parTrans" cxnId="{D826E721-45CD-4469-9771-6466548A954C}">
      <dgm:prSet/>
      <dgm:spPr/>
      <dgm:t>
        <a:bodyPr/>
        <a:lstStyle/>
        <a:p>
          <a:endParaRPr lang="es-PE"/>
        </a:p>
      </dgm:t>
    </dgm:pt>
    <dgm:pt modelId="{F1F8E271-870D-4199-8678-BA823E59EC65}" type="sibTrans" cxnId="{D826E721-45CD-4469-9771-6466548A954C}">
      <dgm:prSet/>
      <dgm:spPr/>
      <dgm:t>
        <a:bodyPr/>
        <a:lstStyle/>
        <a:p>
          <a:endParaRPr lang="es-PE"/>
        </a:p>
      </dgm:t>
    </dgm:pt>
    <dgm:pt modelId="{1252DF7B-70F5-49F3-BB8A-6246956B3B82}">
      <dgm:prSet phldrT="[Texto]" custT="1"/>
      <dgm:spPr/>
      <dgm:t>
        <a:bodyPr/>
        <a:lstStyle/>
        <a:p>
          <a:pPr algn="l"/>
          <a:r>
            <a:rPr lang="pt-BR" sz="2200" b="0" i="0" u="none" dirty="0"/>
            <a:t>-</a:t>
          </a:r>
          <a:r>
            <a:rPr lang="pt-BR" sz="2000" b="0" i="0" u="none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Aislados</a:t>
          </a:r>
          <a:r>
            <a:rPr lang="pt-BR" sz="20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 nativos de </a:t>
          </a:r>
          <a:r>
            <a:rPr lang="pt-BR" sz="2000" b="0" i="1" u="none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Metarizhium</a:t>
          </a:r>
          <a:r>
            <a:rPr lang="pt-BR" sz="2000" b="0" i="1" u="none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pt-BR" sz="20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spp.</a:t>
          </a:r>
        </a:p>
        <a:p>
          <a:pPr algn="l"/>
          <a:r>
            <a:rPr lang="es-PE" sz="20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-Temperatura (°C)</a:t>
          </a:r>
          <a:endParaRPr lang="es-PE" sz="2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endParaRPr lang="es-PE" sz="2200" dirty="0"/>
        </a:p>
      </dgm:t>
    </dgm:pt>
    <dgm:pt modelId="{4C5B822E-0A8B-4D74-ACCE-4D2C6E7DB7FF}" type="parTrans" cxnId="{11F9C6C8-7940-427C-AD17-98CBCBC49672}">
      <dgm:prSet/>
      <dgm:spPr/>
      <dgm:t>
        <a:bodyPr/>
        <a:lstStyle/>
        <a:p>
          <a:endParaRPr lang="es-PE"/>
        </a:p>
      </dgm:t>
    </dgm:pt>
    <dgm:pt modelId="{43E05002-D61D-4187-A856-778C3B9AD092}" type="sibTrans" cxnId="{11F9C6C8-7940-427C-AD17-98CBCBC49672}">
      <dgm:prSet/>
      <dgm:spPr/>
      <dgm:t>
        <a:bodyPr/>
        <a:lstStyle/>
        <a:p>
          <a:endParaRPr lang="es-PE"/>
        </a:p>
      </dgm:t>
    </dgm:pt>
    <dgm:pt modelId="{ED46CFEA-8472-4E14-A747-A98D05A9C70E}">
      <dgm:prSet phldrT="[Texto]" custT="1"/>
      <dgm:spPr>
        <a:solidFill>
          <a:srgbClr val="EEECE1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Dependientes</a:t>
          </a:r>
        </a:p>
      </dgm:t>
    </dgm:pt>
    <dgm:pt modelId="{D67E3048-EF93-4EE4-9541-EACA2F26DADB}" type="parTrans" cxnId="{804DC3F5-16A2-4B26-BA63-C8B0A44563F3}">
      <dgm:prSet/>
      <dgm:spPr/>
      <dgm:t>
        <a:bodyPr/>
        <a:lstStyle/>
        <a:p>
          <a:endParaRPr lang="es-PE"/>
        </a:p>
      </dgm:t>
    </dgm:pt>
    <dgm:pt modelId="{40FC96FF-A2AD-46D4-8784-28FAF9E10E7F}" type="sibTrans" cxnId="{804DC3F5-16A2-4B26-BA63-C8B0A44563F3}">
      <dgm:prSet/>
      <dgm:spPr/>
      <dgm:t>
        <a:bodyPr/>
        <a:lstStyle/>
        <a:p>
          <a:endParaRPr lang="es-PE"/>
        </a:p>
      </dgm:t>
    </dgm:pt>
    <dgm:pt modelId="{5509761F-74E8-4E21-916D-C2D44AD13924}">
      <dgm:prSet phldrT="[Texto]" custT="1"/>
      <dgm:spPr/>
      <dgm:t>
        <a:bodyPr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Crecimiento micelial (CM)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Producción de 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conidias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(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PdC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Germinación de 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conidias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(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GdC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</a:t>
          </a:r>
        </a:p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kern="1200" dirty="0"/>
        </a:p>
      </dgm:t>
    </dgm:pt>
    <dgm:pt modelId="{9D21456D-6A3D-4DA0-A6CF-777D66FD07EF}" type="parTrans" cxnId="{5DA61405-581F-434C-9CAA-EF0AA49F945D}">
      <dgm:prSet/>
      <dgm:spPr/>
      <dgm:t>
        <a:bodyPr/>
        <a:lstStyle/>
        <a:p>
          <a:endParaRPr lang="es-PE"/>
        </a:p>
      </dgm:t>
    </dgm:pt>
    <dgm:pt modelId="{8555C528-1EA4-4735-A8A3-75D0E183BFD5}" type="sibTrans" cxnId="{5DA61405-581F-434C-9CAA-EF0AA49F945D}">
      <dgm:prSet/>
      <dgm:spPr/>
      <dgm:t>
        <a:bodyPr/>
        <a:lstStyle/>
        <a:p>
          <a:endParaRPr lang="es-PE"/>
        </a:p>
      </dgm:t>
    </dgm:pt>
    <dgm:pt modelId="{879DD834-508A-4220-B6D2-A4EFA2C169B8}" type="pres">
      <dgm:prSet presAssocID="{3560E015-133C-4308-988E-E398C29B6FEA}" presName="diagram" presStyleCnt="0">
        <dgm:presLayoutVars>
          <dgm:dir/>
          <dgm:resizeHandles val="exact"/>
        </dgm:presLayoutVars>
      </dgm:prSet>
      <dgm:spPr/>
    </dgm:pt>
    <dgm:pt modelId="{0C40E6F9-98C3-422D-952E-ABFFA5ABC997}" type="pres">
      <dgm:prSet presAssocID="{231B2D0A-2B22-4CBB-B0BE-5BFD4083F15F}" presName="node" presStyleLbl="node1" presStyleIdx="0" presStyleCnt="4">
        <dgm:presLayoutVars>
          <dgm:bulletEnabled val="1"/>
        </dgm:presLayoutVars>
      </dgm:prSet>
      <dgm:spPr/>
    </dgm:pt>
    <dgm:pt modelId="{4585D20E-01E8-40C0-81C2-66DC849058F5}" type="pres">
      <dgm:prSet presAssocID="{F1F8E271-870D-4199-8678-BA823E59EC65}" presName="sibTrans" presStyleCnt="0"/>
      <dgm:spPr/>
    </dgm:pt>
    <dgm:pt modelId="{2CF9811B-E79F-4CBE-A650-E71D4B7DF6A8}" type="pres">
      <dgm:prSet presAssocID="{1252DF7B-70F5-49F3-BB8A-6246956B3B82}" presName="node" presStyleLbl="node1" presStyleIdx="1" presStyleCnt="4" custScaleX="137829" custLinFactNeighborY="-1871">
        <dgm:presLayoutVars>
          <dgm:bulletEnabled val="1"/>
        </dgm:presLayoutVars>
      </dgm:prSet>
      <dgm:spPr/>
    </dgm:pt>
    <dgm:pt modelId="{9248E26D-2F20-4153-9440-FC9599F692F9}" type="pres">
      <dgm:prSet presAssocID="{43E05002-D61D-4187-A856-778C3B9AD092}" presName="sibTrans" presStyleCnt="0"/>
      <dgm:spPr/>
    </dgm:pt>
    <dgm:pt modelId="{AEFEA0E6-7B64-4B92-A141-67B35AFAFEE7}" type="pres">
      <dgm:prSet presAssocID="{ED46CFEA-8472-4E14-A747-A98D05A9C70E}" presName="node" presStyleLbl="node1" presStyleIdx="2" presStyleCnt="4" custLinFactNeighborX="-18552" custLinFactNeighborY="3681">
        <dgm:presLayoutVars>
          <dgm:bulletEnabled val="1"/>
        </dgm:presLayoutVars>
      </dgm:prSet>
      <dgm:spPr>
        <a:xfrm>
          <a:off x="545460" y="2520073"/>
          <a:ext cx="2875243" cy="1725146"/>
        </a:xfrm>
        <a:prstGeom prst="rect">
          <a:avLst/>
        </a:prstGeom>
      </dgm:spPr>
    </dgm:pt>
    <dgm:pt modelId="{C7261B4E-7434-4D73-A8C2-CFA87E985525}" type="pres">
      <dgm:prSet presAssocID="{40FC96FF-A2AD-46D4-8784-28FAF9E10E7F}" presName="sibTrans" presStyleCnt="0"/>
      <dgm:spPr/>
    </dgm:pt>
    <dgm:pt modelId="{7ADE64BD-1282-4B74-A7CA-2F2D654367E9}" type="pres">
      <dgm:prSet presAssocID="{5509761F-74E8-4E21-916D-C2D44AD13924}" presName="node" presStyleLbl="node1" presStyleIdx="3" presStyleCnt="4" custScaleX="142770" custScaleY="102112" custLinFactNeighborX="190" custLinFactNeighborY="2959">
        <dgm:presLayoutVars>
          <dgm:bulletEnabled val="1"/>
        </dgm:presLayoutVars>
      </dgm:prSet>
      <dgm:spPr/>
    </dgm:pt>
  </dgm:ptLst>
  <dgm:cxnLst>
    <dgm:cxn modelId="{5DA61405-581F-434C-9CAA-EF0AA49F945D}" srcId="{3560E015-133C-4308-988E-E398C29B6FEA}" destId="{5509761F-74E8-4E21-916D-C2D44AD13924}" srcOrd="3" destOrd="0" parTransId="{9D21456D-6A3D-4DA0-A6CF-777D66FD07EF}" sibTransId="{8555C528-1EA4-4735-A8A3-75D0E183BFD5}"/>
    <dgm:cxn modelId="{0AE61119-B2D3-40BD-839F-4402C6C3693B}" type="presOf" srcId="{ED46CFEA-8472-4E14-A747-A98D05A9C70E}" destId="{AEFEA0E6-7B64-4B92-A141-67B35AFAFEE7}" srcOrd="0" destOrd="0" presId="urn:microsoft.com/office/officeart/2005/8/layout/default"/>
    <dgm:cxn modelId="{D826E721-45CD-4469-9771-6466548A954C}" srcId="{3560E015-133C-4308-988E-E398C29B6FEA}" destId="{231B2D0A-2B22-4CBB-B0BE-5BFD4083F15F}" srcOrd="0" destOrd="0" parTransId="{77B72CA9-8730-4382-BFBB-E231FCD796F7}" sibTransId="{F1F8E271-870D-4199-8678-BA823E59EC65}"/>
    <dgm:cxn modelId="{75468729-7D6C-4CAC-A7F9-CB904BC57EB3}" type="presOf" srcId="{3560E015-133C-4308-988E-E398C29B6FEA}" destId="{879DD834-508A-4220-B6D2-A4EFA2C169B8}" srcOrd="0" destOrd="0" presId="urn:microsoft.com/office/officeart/2005/8/layout/default"/>
    <dgm:cxn modelId="{FF414B2B-0025-428D-8EC8-C991BD313F96}" type="presOf" srcId="{5509761F-74E8-4E21-916D-C2D44AD13924}" destId="{7ADE64BD-1282-4B74-A7CA-2F2D654367E9}" srcOrd="0" destOrd="0" presId="urn:microsoft.com/office/officeart/2005/8/layout/default"/>
    <dgm:cxn modelId="{7EFCD15F-8681-4C0B-B1AC-38D10414C3D1}" type="presOf" srcId="{231B2D0A-2B22-4CBB-B0BE-5BFD4083F15F}" destId="{0C40E6F9-98C3-422D-952E-ABFFA5ABC997}" srcOrd="0" destOrd="0" presId="urn:microsoft.com/office/officeart/2005/8/layout/default"/>
    <dgm:cxn modelId="{31CA554A-D80E-470D-A877-E8BD549A149D}" type="presOf" srcId="{1252DF7B-70F5-49F3-BB8A-6246956B3B82}" destId="{2CF9811B-E79F-4CBE-A650-E71D4B7DF6A8}" srcOrd="0" destOrd="0" presId="urn:microsoft.com/office/officeart/2005/8/layout/default"/>
    <dgm:cxn modelId="{11F9C6C8-7940-427C-AD17-98CBCBC49672}" srcId="{3560E015-133C-4308-988E-E398C29B6FEA}" destId="{1252DF7B-70F5-49F3-BB8A-6246956B3B82}" srcOrd="1" destOrd="0" parTransId="{4C5B822E-0A8B-4D74-ACCE-4D2C6E7DB7FF}" sibTransId="{43E05002-D61D-4187-A856-778C3B9AD092}"/>
    <dgm:cxn modelId="{804DC3F5-16A2-4B26-BA63-C8B0A44563F3}" srcId="{3560E015-133C-4308-988E-E398C29B6FEA}" destId="{ED46CFEA-8472-4E14-A747-A98D05A9C70E}" srcOrd="2" destOrd="0" parTransId="{D67E3048-EF93-4EE4-9541-EACA2F26DADB}" sibTransId="{40FC96FF-A2AD-46D4-8784-28FAF9E10E7F}"/>
    <dgm:cxn modelId="{1AC078B3-7BEA-4CFA-9EAA-53CAE4490D13}" type="presParOf" srcId="{879DD834-508A-4220-B6D2-A4EFA2C169B8}" destId="{0C40E6F9-98C3-422D-952E-ABFFA5ABC997}" srcOrd="0" destOrd="0" presId="urn:microsoft.com/office/officeart/2005/8/layout/default"/>
    <dgm:cxn modelId="{A6562713-D260-461D-8EE8-19C543685780}" type="presParOf" srcId="{879DD834-508A-4220-B6D2-A4EFA2C169B8}" destId="{4585D20E-01E8-40C0-81C2-66DC849058F5}" srcOrd="1" destOrd="0" presId="urn:microsoft.com/office/officeart/2005/8/layout/default"/>
    <dgm:cxn modelId="{8243CDA2-6DF2-4A80-AA03-1A13F7F52DDD}" type="presParOf" srcId="{879DD834-508A-4220-B6D2-A4EFA2C169B8}" destId="{2CF9811B-E79F-4CBE-A650-E71D4B7DF6A8}" srcOrd="2" destOrd="0" presId="urn:microsoft.com/office/officeart/2005/8/layout/default"/>
    <dgm:cxn modelId="{5BAE350E-5942-44C2-B5A6-D8052DDE689A}" type="presParOf" srcId="{879DD834-508A-4220-B6D2-A4EFA2C169B8}" destId="{9248E26D-2F20-4153-9440-FC9599F692F9}" srcOrd="3" destOrd="0" presId="urn:microsoft.com/office/officeart/2005/8/layout/default"/>
    <dgm:cxn modelId="{DB46E136-7903-4ED2-ACD6-0A643160755B}" type="presParOf" srcId="{879DD834-508A-4220-B6D2-A4EFA2C169B8}" destId="{AEFEA0E6-7B64-4B92-A141-67B35AFAFEE7}" srcOrd="4" destOrd="0" presId="urn:microsoft.com/office/officeart/2005/8/layout/default"/>
    <dgm:cxn modelId="{8F777022-B12E-49AD-89F0-99532C49D467}" type="presParOf" srcId="{879DD834-508A-4220-B6D2-A4EFA2C169B8}" destId="{C7261B4E-7434-4D73-A8C2-CFA87E985525}" srcOrd="5" destOrd="0" presId="urn:microsoft.com/office/officeart/2005/8/layout/default"/>
    <dgm:cxn modelId="{E3A72EEA-3387-412B-B340-0226F2479122}" type="presParOf" srcId="{879DD834-508A-4220-B6D2-A4EFA2C169B8}" destId="{7ADE64BD-1282-4B74-A7CA-2F2D654367E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03520-7141-4221-AE31-01857E1548AD}">
      <dsp:nvSpPr>
        <dsp:cNvPr id="0" name=""/>
        <dsp:cNvSpPr/>
      </dsp:nvSpPr>
      <dsp:spPr>
        <a:xfrm>
          <a:off x="-5372953" y="-822850"/>
          <a:ext cx="6398323" cy="6398323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6120C-8721-4FDF-8998-B1E4C5826708}">
      <dsp:nvSpPr>
        <dsp:cNvPr id="0" name=""/>
        <dsp:cNvSpPr/>
      </dsp:nvSpPr>
      <dsp:spPr>
        <a:xfrm>
          <a:off x="659663" y="475262"/>
          <a:ext cx="6403682" cy="9505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44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Lugar de </a:t>
          </a:r>
          <a:r>
            <a:rPr lang="es-MX" sz="1600" b="1" i="0" u="none" strike="noStrike" kern="1200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ejecución</a:t>
          </a:r>
          <a:r>
            <a:rPr lang="es-MX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 o </a:t>
          </a:r>
          <a:r>
            <a:rPr lang="es-MX" sz="1600" b="1" i="0" u="none" strike="noStrike" kern="1200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ámbito</a:t>
          </a:r>
          <a:r>
            <a:rPr lang="es-MX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: </a:t>
          </a:r>
          <a:r>
            <a:rPr lang="es-MX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rPr>
            <a:t>Actividades en campo y laboratorio.</a:t>
          </a:r>
          <a:endParaRPr lang="es-PE" sz="1600" b="1" i="0" u="none" strike="noStrike" kern="1200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  <a:sym typeface="Arial"/>
          </a:endParaRPr>
        </a:p>
      </dsp:txBody>
      <dsp:txXfrm>
        <a:off x="659663" y="475262"/>
        <a:ext cx="6403682" cy="950524"/>
      </dsp:txXfrm>
    </dsp:sp>
    <dsp:sp modelId="{B5FEF8E6-BB61-44FD-8795-1C3059990B1B}">
      <dsp:nvSpPr>
        <dsp:cNvPr id="0" name=""/>
        <dsp:cNvSpPr/>
      </dsp:nvSpPr>
      <dsp:spPr>
        <a:xfrm>
          <a:off x="65586" y="356446"/>
          <a:ext cx="1188155" cy="11881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20096-DC33-4747-9AF1-17EC385958C7}">
      <dsp:nvSpPr>
        <dsp:cNvPr id="0" name=""/>
        <dsp:cNvSpPr/>
      </dsp:nvSpPr>
      <dsp:spPr>
        <a:xfrm>
          <a:off x="1005179" y="1901048"/>
          <a:ext cx="6058167" cy="9505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44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Nivel y tipo de investigación: </a:t>
          </a:r>
          <a:r>
            <a:rPr lang="es-MX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Nivel descriptivo y tipo básica.</a:t>
          </a:r>
          <a:endParaRPr lang="es-PE" sz="1600" b="1" i="0" u="none" strike="noStrike" kern="1200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</a:endParaRPr>
        </a:p>
      </dsp:txBody>
      <dsp:txXfrm>
        <a:off x="1005179" y="1901048"/>
        <a:ext cx="6058167" cy="950524"/>
      </dsp:txXfrm>
    </dsp:sp>
    <dsp:sp modelId="{41325D7C-5005-49C9-AE2B-1E6C9C1335CB}">
      <dsp:nvSpPr>
        <dsp:cNvPr id="0" name=""/>
        <dsp:cNvSpPr/>
      </dsp:nvSpPr>
      <dsp:spPr>
        <a:xfrm>
          <a:off x="411101" y="1782233"/>
          <a:ext cx="1188155" cy="11881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08633-C204-4F7B-BA8A-F2D1E17A3F0D}">
      <dsp:nvSpPr>
        <dsp:cNvPr id="0" name=""/>
        <dsp:cNvSpPr/>
      </dsp:nvSpPr>
      <dsp:spPr>
        <a:xfrm>
          <a:off x="659663" y="3326835"/>
          <a:ext cx="6403682" cy="9505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44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Población, muestra y muestreo: (</a:t>
          </a:r>
          <a:r>
            <a:rPr lang="es-PE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Conjunto de parcelas, Adultos </a:t>
          </a:r>
          <a:r>
            <a:rPr lang="es-PE" sz="1600" b="0" i="0" u="none" strike="noStrike" kern="1200" cap="none" dirty="0" err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micosados</a:t>
          </a:r>
          <a:r>
            <a:rPr lang="es-PE" sz="1600" b="0" i="0" u="none" strike="noStrike" kern="1200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rPr>
            <a:t>, dirigido).</a:t>
          </a:r>
          <a:endParaRPr lang="es-PE" sz="1600" b="1" i="0" u="none" strike="noStrike" kern="1200" cap="none" dirty="0">
            <a:solidFill>
              <a:srgbClr val="000000"/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</a:endParaRPr>
        </a:p>
      </dsp:txBody>
      <dsp:txXfrm>
        <a:off x="659663" y="3326835"/>
        <a:ext cx="6403682" cy="950524"/>
      </dsp:txXfrm>
    </dsp:sp>
    <dsp:sp modelId="{5301F2C5-819C-421B-B46D-01537FF1D86A}">
      <dsp:nvSpPr>
        <dsp:cNvPr id="0" name=""/>
        <dsp:cNvSpPr/>
      </dsp:nvSpPr>
      <dsp:spPr>
        <a:xfrm>
          <a:off x="65586" y="3208019"/>
          <a:ext cx="1188155" cy="11881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0E6F9-98C3-422D-952E-ABFFA5ABC997}">
      <dsp:nvSpPr>
        <dsp:cNvPr id="0" name=""/>
        <dsp:cNvSpPr/>
      </dsp:nvSpPr>
      <dsp:spPr>
        <a:xfrm>
          <a:off x="70636" y="525739"/>
          <a:ext cx="2819548" cy="1691729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Independientes</a:t>
          </a:r>
        </a:p>
      </dsp:txBody>
      <dsp:txXfrm>
        <a:off x="70636" y="525739"/>
        <a:ext cx="2819548" cy="1691729"/>
      </dsp:txXfrm>
    </dsp:sp>
    <dsp:sp modelId="{2CF9811B-E79F-4CBE-A650-E71D4B7DF6A8}">
      <dsp:nvSpPr>
        <dsp:cNvPr id="0" name=""/>
        <dsp:cNvSpPr/>
      </dsp:nvSpPr>
      <dsp:spPr>
        <a:xfrm>
          <a:off x="3172140" y="494087"/>
          <a:ext cx="3886155" cy="1691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u="none" kern="1200" dirty="0"/>
            <a:t>-</a:t>
          </a:r>
          <a:r>
            <a:rPr lang="pt-BR" sz="2000" b="0" i="0" u="none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Aislados</a:t>
          </a:r>
          <a:r>
            <a:rPr lang="pt-BR" sz="20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nativos de </a:t>
          </a:r>
          <a:r>
            <a:rPr lang="pt-BR" sz="2000" b="0" i="1" u="none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Metarizhium</a:t>
          </a:r>
          <a:r>
            <a:rPr lang="pt-BR" sz="2000" b="0" i="1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pt-BR" sz="20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spp.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-Temperatura (°C)</a:t>
          </a:r>
          <a:endParaRPr lang="es-PE" sz="2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200" kern="1200" dirty="0"/>
        </a:p>
      </dsp:txBody>
      <dsp:txXfrm>
        <a:off x="3172140" y="494087"/>
        <a:ext cx="3886155" cy="1691729"/>
      </dsp:txXfrm>
    </dsp:sp>
    <dsp:sp modelId="{AEFEA0E6-7B64-4B92-A141-67B35AFAFEE7}">
      <dsp:nvSpPr>
        <dsp:cNvPr id="0" name=""/>
        <dsp:cNvSpPr/>
      </dsp:nvSpPr>
      <dsp:spPr>
        <a:xfrm>
          <a:off x="0" y="2579560"/>
          <a:ext cx="2819548" cy="1691729"/>
        </a:xfrm>
        <a:prstGeom prst="rect">
          <a:avLst/>
        </a:prstGeom>
        <a:solidFill>
          <a:srgbClr val="EEECE1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Dependientes</a:t>
          </a:r>
        </a:p>
      </dsp:txBody>
      <dsp:txXfrm>
        <a:off x="0" y="2579560"/>
        <a:ext cx="2819548" cy="1691729"/>
      </dsp:txXfrm>
    </dsp:sp>
    <dsp:sp modelId="{7ADE64BD-1282-4B74-A7CA-2F2D654367E9}">
      <dsp:nvSpPr>
        <dsp:cNvPr id="0" name=""/>
        <dsp:cNvSpPr/>
      </dsp:nvSpPr>
      <dsp:spPr>
        <a:xfrm>
          <a:off x="3103463" y="2549482"/>
          <a:ext cx="4025469" cy="17274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Crecimiento micelial (CM)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Producción de 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conidias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(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PdC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Germinación de 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conidias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(</a:t>
          </a:r>
          <a:r>
            <a:rPr lang="es-PE" sz="2000" b="0" i="0" u="none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GdC</a:t>
          </a:r>
          <a:r>
            <a:rPr lang="es-PE" sz="2000" b="0" i="0" u="none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</a:t>
          </a:r>
        </a:p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kern="1200" dirty="0"/>
        </a:p>
      </dsp:txBody>
      <dsp:txXfrm>
        <a:off x="3103463" y="2549482"/>
        <a:ext cx="4025469" cy="1727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7200"/>
            <a:ext cx="7129275" cy="2836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6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7B5F7DD-760D-AA89-69E7-ABF562B5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83B0C22B-81C6-270D-2CB8-7EBAD3F7B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213128EA-EB27-92EF-8118-65D3CA4B7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6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308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6FDF78D-2805-05B1-3BA1-C845493F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AC7E9314-A7CB-4E2D-7FC1-327493DB8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032EAD8E-DD29-AB0E-B317-BCD0188D0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6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22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402C678-DC31-6E98-E37D-67A24184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41103DC7-6E29-278A-B0C5-3235B3253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7B72810E-2CE9-B463-20D2-7D67DE063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6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8320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341688" y="566738"/>
            <a:ext cx="4011612" cy="2836862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3901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203754" y="3222761"/>
            <a:ext cx="10285891" cy="98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15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4880839" y="2188514"/>
            <a:ext cx="5476875" cy="254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46421" y="6391192"/>
            <a:ext cx="4156075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442383" y="6391192"/>
            <a:ext cx="435609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015872" y="6389596"/>
            <a:ext cx="1803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0005" marR="0" lvl="0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005" marR="0" lvl="1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0005" marR="0" lvl="2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0005" marR="0" lvl="3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0005" marR="0" lvl="4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0005" marR="0" lvl="5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0005" marR="0" lvl="6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0005" marR="0" lvl="7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005" marR="0" lvl="8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000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246421" y="6391192"/>
            <a:ext cx="4156075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442383" y="6391192"/>
            <a:ext cx="435609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015872" y="6389596"/>
            <a:ext cx="1803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0005" marR="0" lvl="0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005" marR="0" lvl="1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0005" marR="0" lvl="2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0005" marR="0" lvl="3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0005" marR="0" lvl="4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0005" marR="0" lvl="5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0005" marR="0" lvl="6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0005" marR="0" lvl="7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005" marR="0" lvl="8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000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03754" y="3222761"/>
            <a:ext cx="10285891" cy="98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15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246421" y="6391192"/>
            <a:ext cx="4156075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6442383" y="6391192"/>
            <a:ext cx="435609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015872" y="6389596"/>
            <a:ext cx="1803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0005" marR="0" lvl="0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005" marR="0" lvl="1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0005" marR="0" lvl="2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0005" marR="0" lvl="3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0005" marR="0" lvl="4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0005" marR="0" lvl="5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0005" marR="0" lvl="6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0005" marR="0" lvl="7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005" marR="0" lvl="8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000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46421" y="6391192"/>
            <a:ext cx="4156075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6442383" y="6391192"/>
            <a:ext cx="435609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10015872" y="6389596"/>
            <a:ext cx="1803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0005" marR="0" lvl="0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005" marR="0" lvl="1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0005" marR="0" lvl="2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0005" marR="0" lvl="3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0005" marR="0" lvl="4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0005" marR="0" lvl="5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0005" marR="0" lvl="6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0005" marR="0" lvl="7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005" marR="0" lvl="8" indent="0" algn="l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000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772668"/>
            <a:ext cx="10692384" cy="7132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03754" y="3222761"/>
            <a:ext cx="10285891" cy="98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880839" y="2188514"/>
            <a:ext cx="5476875" cy="254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46421" y="6391192"/>
            <a:ext cx="4156075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6442383" y="6391192"/>
            <a:ext cx="435609" cy="22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0015872" y="6389596"/>
            <a:ext cx="1803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0005" marR="0" lvl="0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005" marR="0" lvl="1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0005" marR="0" lvl="2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0005" marR="0" lvl="3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0005" marR="0" lvl="4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0005" marR="0" lvl="5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0005" marR="0" lvl="6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0005" marR="0" lvl="7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005" marR="0" lvl="8" indent="0" algn="l" rtl="0">
              <a:lnSpc>
                <a:spcPct val="103870"/>
              </a:lnSpc>
              <a:spcBef>
                <a:spcPts val="0"/>
              </a:spcBef>
              <a:buNone/>
              <a:defRPr sz="155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000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jam.15460" TargetMode="External"/><Relationship Id="rId2" Type="http://schemas.openxmlformats.org/officeDocument/2006/relationships/hyperlink" Target="https://hdl.handle.net/20.500.14414/1761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55/2023/498239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gro.icm.edu.pl/agro/element/bwmeta1.element.agro-a6c704fd-061e-4c7e-bbcd-add4213ad0fe" TargetMode="External"/><Relationship Id="rId2" Type="http://schemas.openxmlformats.org/officeDocument/2006/relationships/hyperlink" Target="https://doi.org/10.1016/B978-0-12-386899-2.00006-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390/agronomy14071341" TargetMode="External"/><Relationship Id="rId4" Type="http://schemas.openxmlformats.org/officeDocument/2006/relationships/hyperlink" Target="https://ri.ujat.mx/handle/200.500.12107/447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7"/>
          <p:cNvGrpSpPr/>
          <p:nvPr/>
        </p:nvGrpSpPr>
        <p:grpSpPr>
          <a:xfrm>
            <a:off x="1016" y="257862"/>
            <a:ext cx="10692384" cy="6013703"/>
            <a:chOff x="0" y="772668"/>
            <a:chExt cx="10692384" cy="6013703"/>
          </a:xfrm>
        </p:grpSpPr>
        <p:pic>
          <p:nvPicPr>
            <p:cNvPr id="47" name="Google Shape;47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72668"/>
              <a:ext cx="10692384" cy="6013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2705100"/>
              <a:ext cx="10692384" cy="1708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57827" y="1504187"/>
              <a:ext cx="2485643" cy="6903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/>
          <p:nvPr/>
        </p:nvSpPr>
        <p:spPr>
          <a:xfrm>
            <a:off x="933133" y="4269271"/>
            <a:ext cx="141859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Alumno</a:t>
            </a:r>
            <a:r>
              <a:rPr lang="en-US" sz="2100" b="1" i="0" u="none" strike="noStrike" cap="non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  <a:endParaRPr sz="2100" b="1" i="0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10079976" y="7153192"/>
            <a:ext cx="179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>
              <a:lnSpc>
                <a:spcPct val="106666"/>
              </a:lnSpc>
              <a:buSzPts val="1400"/>
              <a:buNone/>
              <a:defRPr sz="1800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fld id="{00000000-1234-1234-1234-123412341234}" type="slidenum">
              <a:rPr lang="en-US"/>
              <a:pPr/>
              <a:t>1</a:t>
            </a:fld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246421" y="7153193"/>
            <a:ext cx="115671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Tesis I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5201664" y="7095329"/>
            <a:ext cx="715162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>
              <a:lnSpc>
                <a:spcPct val="106666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2464531" y="4267639"/>
            <a:ext cx="3399300" cy="658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0320" marR="5080" lvl="0" indent="-8255" algn="l" rtl="0">
              <a:lnSpc>
                <a:spcPct val="10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Edwin Mondragon Herrera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65" marR="5080" lvl="0" indent="0" algn="l" rtl="0">
              <a:lnSpc>
                <a:spcPct val="1002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933133" y="5270452"/>
            <a:ext cx="1133110" cy="33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Docente</a:t>
            </a:r>
            <a:r>
              <a:rPr lang="en-US" sz="2100" b="1" i="0" u="none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100" b="0" i="0" u="none" strike="noStrike" cap="non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2464531" y="5270452"/>
            <a:ext cx="3037635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Flavio Lozano Isla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7" name="Google Shape;57;p7"/>
          <p:cNvSpPr txBox="1"/>
          <p:nvPr/>
        </p:nvSpPr>
        <p:spPr>
          <a:xfrm>
            <a:off x="8020300" y="5703479"/>
            <a:ext cx="2469300" cy="2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 indent="0">
              <a:lnSpc>
                <a:spcPct val="106666"/>
              </a:lnSpc>
              <a:buSzPts val="1400"/>
              <a:buNone/>
              <a:defRPr sz="1800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>
                <a:sym typeface="Times New Roman"/>
              </a:rPr>
              <a:t>Chachapoyas, 2025</a:t>
            </a:r>
            <a:endParaRPr dirty="0">
              <a:sym typeface="Times New Roman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203800" y="2387155"/>
            <a:ext cx="10285800" cy="167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87450" marR="5080" lvl="0" indent="-117538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7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Aislados nativos de </a:t>
            </a:r>
            <a:r>
              <a:rPr lang="es-PE" sz="2700" b="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sz="2700" b="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700" b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spp</a:t>
            </a:r>
            <a:r>
              <a:rPr lang="es-PE" sz="27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con potencial de </a:t>
            </a:r>
            <a:r>
              <a:rPr lang="es-PE" sz="27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PE" sz="27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sobre el picudo rayado del plátano (</a:t>
            </a:r>
            <a:r>
              <a:rPr lang="es-PE" sz="2700" b="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Metamasius</a:t>
            </a:r>
            <a:r>
              <a:rPr lang="es-PE" sz="2700" b="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700" b="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hemipterus</a:t>
            </a:r>
            <a:r>
              <a:rPr lang="es-PE" sz="27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en </a:t>
            </a:r>
            <a:r>
              <a:rPr lang="es-PE" sz="27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Ñunya</a:t>
            </a:r>
            <a:r>
              <a:rPr lang="es-PE" sz="27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Jalca, Amazonas</a:t>
            </a:r>
            <a:r>
              <a:rPr lang="es-PE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PE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07"/>
    </mc:Choice>
    <mc:Fallback xmlns="">
      <p:transition spd="slow" advTm="242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9EC9118-EFB5-D81A-9836-4F4409C3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7">
            <a:extLst>
              <a:ext uri="{FF2B5EF4-FFF2-40B4-BE49-F238E27FC236}">
                <a16:creationId xmlns:a16="http://schemas.microsoft.com/office/drawing/2014/main" id="{A8A1DFDD-0BED-80F9-B315-8A0BB2C05853}"/>
              </a:ext>
            </a:extLst>
          </p:cNvPr>
          <p:cNvSpPr txBox="1"/>
          <p:nvPr/>
        </p:nvSpPr>
        <p:spPr>
          <a:xfrm>
            <a:off x="10079976" y="7153192"/>
            <a:ext cx="17910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>
              <a:lnSpc>
                <a:spcPct val="106666"/>
              </a:lnSpc>
              <a:buSzPts val="1400"/>
              <a:buNone/>
              <a:defRPr sz="1800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fld id="{00000000-1234-1234-1234-123412341234}" type="slidenum">
              <a:rPr lang="en-US"/>
              <a:pPr/>
              <a:t>2</a:t>
            </a:fld>
            <a:endParaRPr dirty="0"/>
          </a:p>
        </p:txBody>
      </p:sp>
      <p:sp>
        <p:nvSpPr>
          <p:cNvPr id="3" name="Google Shape;52;p7">
            <a:extLst>
              <a:ext uri="{FF2B5EF4-FFF2-40B4-BE49-F238E27FC236}">
                <a16:creationId xmlns:a16="http://schemas.microsoft.com/office/drawing/2014/main" id="{CCBAC218-C16A-9911-F861-3DCEFF6476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46421" y="7153193"/>
            <a:ext cx="115671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Tesis I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3;p7">
            <a:extLst>
              <a:ext uri="{FF2B5EF4-FFF2-40B4-BE49-F238E27FC236}">
                <a16:creationId xmlns:a16="http://schemas.microsoft.com/office/drawing/2014/main" id="{079EFBF2-2B44-40BA-0A7C-B24B75FDC5C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201664" y="7095329"/>
            <a:ext cx="715162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>
              <a:lnSpc>
                <a:spcPct val="106666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91F1CA-87D6-C55D-2AB2-E29E5A17B212}"/>
              </a:ext>
            </a:extLst>
          </p:cNvPr>
          <p:cNvSpPr txBox="1"/>
          <p:nvPr/>
        </p:nvSpPr>
        <p:spPr>
          <a:xfrm>
            <a:off x="502679" y="1524224"/>
            <a:ext cx="9944300" cy="632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Baró et al. (2022)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su investigación, caracterizaron seis aislados fúngicos del género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provenientes de insectos y suelos en Cuba, con el objetivo de identificar su potencial como agentes de control biológico contra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Cylas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formicarius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plaga de la papa.</a:t>
            </a: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su investigación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Mayo (2024)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aisló cinco cepas nativas de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 el objetivo de identificar y seleccionar aislamientos con potencial de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 la chinche negra del cacao (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Antiteuchus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tripterus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Tabasco, México. Realizó la caracterización morfológica, molecular, fisiológica y patogénica de los aislamientos. Además, se estudió el crecimiento micelial, la germinación y la producción de conidios en medio SDA a temperaturas de 25, 30 y 35 °C.</a:t>
            </a: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 et al. (2021)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evaluaron veinte aislamientos monospóricos nativos de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aislados de suelos e insectos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micosados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cultivos de caña de azúcar en Pastaza, Ecuador, con el objetivo de determinar su potencial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Mahanarva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andigena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(salivazo). El ensayo, diseñado completamente al azar con seis repeticiones por aislamiento, permitió identificar variabilidad significativa en parámetros como crecimiento radial, tasa de crecimiento y producción de conidios.</a:t>
            </a: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64;p8">
            <a:extLst>
              <a:ext uri="{FF2B5EF4-FFF2-40B4-BE49-F238E27FC236}">
                <a16:creationId xmlns:a16="http://schemas.microsoft.com/office/drawing/2014/main" id="{29B17097-9CDE-6275-A07A-8FE8719FEF1E}"/>
              </a:ext>
            </a:extLst>
          </p:cNvPr>
          <p:cNvSpPr txBox="1">
            <a:spLocks/>
          </p:cNvSpPr>
          <p:nvPr/>
        </p:nvSpPr>
        <p:spPr>
          <a:xfrm>
            <a:off x="3861914" y="842789"/>
            <a:ext cx="2969571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sz="2800" dirty="0" err="1">
                <a:solidFill>
                  <a:schemeClr val="bg1"/>
                </a:solidFill>
              </a:rPr>
              <a:t>Antecedentes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90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673"/>
    </mc:Choice>
    <mc:Fallback>
      <p:transition spd="slow" advTm="21167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7CF68F2-743D-8177-A0A0-3B9BCE1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7">
            <a:extLst>
              <a:ext uri="{FF2B5EF4-FFF2-40B4-BE49-F238E27FC236}">
                <a16:creationId xmlns:a16="http://schemas.microsoft.com/office/drawing/2014/main" id="{2DA5AA69-ECD6-71DA-1F14-8F7FC2B4094B}"/>
              </a:ext>
            </a:extLst>
          </p:cNvPr>
          <p:cNvSpPr txBox="1"/>
          <p:nvPr/>
        </p:nvSpPr>
        <p:spPr>
          <a:xfrm>
            <a:off x="10079976" y="7153192"/>
            <a:ext cx="17910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>
              <a:lnSpc>
                <a:spcPct val="106666"/>
              </a:lnSpc>
              <a:buSzPts val="1400"/>
              <a:buNone/>
              <a:defRPr sz="1800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fld id="{00000000-1234-1234-1234-123412341234}" type="slidenum">
              <a:rPr lang="en-US"/>
              <a:pPr/>
              <a:t>3</a:t>
            </a:fld>
            <a:endParaRPr dirty="0"/>
          </a:p>
        </p:txBody>
      </p:sp>
      <p:sp>
        <p:nvSpPr>
          <p:cNvPr id="3" name="Google Shape;52;p7">
            <a:extLst>
              <a:ext uri="{FF2B5EF4-FFF2-40B4-BE49-F238E27FC236}">
                <a16:creationId xmlns:a16="http://schemas.microsoft.com/office/drawing/2014/main" id="{8E7AF185-7E57-05F6-FB07-23704FC86F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46421" y="7153193"/>
            <a:ext cx="115671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Tesis I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3;p7">
            <a:extLst>
              <a:ext uri="{FF2B5EF4-FFF2-40B4-BE49-F238E27FC236}">
                <a16:creationId xmlns:a16="http://schemas.microsoft.com/office/drawing/2014/main" id="{4027D5F9-342A-A516-FD51-98F30211187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201664" y="7095329"/>
            <a:ext cx="715162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>
              <a:lnSpc>
                <a:spcPct val="106666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AEF8FBC-8A55-3015-CAC3-9D0963D593C5}"/>
              </a:ext>
            </a:extLst>
          </p:cNvPr>
          <p:cNvSpPr txBox="1"/>
          <p:nvPr/>
        </p:nvSpPr>
        <p:spPr>
          <a:xfrm>
            <a:off x="374550" y="1974220"/>
            <a:ext cx="9944300" cy="48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Castillo (2023)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evaluó la eficacia del hongo entomopatógeno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anisopliae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el control de adultos de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Cryptocephalus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bajo condiciones de laboratorio. Para ello, se emplearon cuatro concentraciones del inóculo (105, 106, 107 y 108 esporas/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aplicadas en tratamientos con cinco repeticiones cada uno, utilizando 10 adultos por repetición.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Chuquibala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(2023)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evaluaron la actividad biológica in vitro de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bassiana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peruviensis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contra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Hypothenemus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hampei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mediante dos ensayos realizados en distintos momentos. Se estudiaron parámetros como la producción, viabilidad de conidios y la patogenicidad a tres concentraciones (1 x 105, 1 x 107 y 1 x 109 conidios/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el estudio desarrollado por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Oliva et al. (2024)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aislaron y caracterizaron dieciocho cepas nativas de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provenientes de muestras de suelo recolectadas en la provincia de Rodríguez de Mendoza, Perú, con el objetivo de evaluar su morfología, fisiología y capacidad patogénica.</a:t>
            </a: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64;p8">
            <a:extLst>
              <a:ext uri="{FF2B5EF4-FFF2-40B4-BE49-F238E27FC236}">
                <a16:creationId xmlns:a16="http://schemas.microsoft.com/office/drawing/2014/main" id="{C4F45DEE-B6E0-0F49-66EE-96B60AEB1F03}"/>
              </a:ext>
            </a:extLst>
          </p:cNvPr>
          <p:cNvSpPr txBox="1">
            <a:spLocks/>
          </p:cNvSpPr>
          <p:nvPr/>
        </p:nvSpPr>
        <p:spPr>
          <a:xfrm>
            <a:off x="4254370" y="942444"/>
            <a:ext cx="2184660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sz="2800" dirty="0" err="1">
                <a:solidFill>
                  <a:schemeClr val="bg1"/>
                </a:solidFill>
              </a:rPr>
              <a:t>Antecedentes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203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673"/>
    </mc:Choice>
    <mc:Fallback>
      <p:transition spd="slow" advTm="2116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A0C85F13-D498-47AE-8A71-25D68BBD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7">
            <a:extLst>
              <a:ext uri="{FF2B5EF4-FFF2-40B4-BE49-F238E27FC236}">
                <a16:creationId xmlns:a16="http://schemas.microsoft.com/office/drawing/2014/main" id="{D3302ABE-9060-09C2-9B5D-EF631B57E224}"/>
              </a:ext>
            </a:extLst>
          </p:cNvPr>
          <p:cNvSpPr txBox="1"/>
          <p:nvPr/>
        </p:nvSpPr>
        <p:spPr>
          <a:xfrm>
            <a:off x="10079976" y="7153192"/>
            <a:ext cx="17910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>
              <a:lnSpc>
                <a:spcPct val="106666"/>
              </a:lnSpc>
              <a:buSzPts val="1400"/>
              <a:buNone/>
              <a:defRPr sz="1800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fld id="{00000000-1234-1234-1234-123412341234}" type="slidenum">
              <a:rPr lang="en-US"/>
              <a:pPr/>
              <a:t>4</a:t>
            </a:fld>
            <a:endParaRPr dirty="0"/>
          </a:p>
        </p:txBody>
      </p:sp>
      <p:sp>
        <p:nvSpPr>
          <p:cNvPr id="3" name="Google Shape;52;p7">
            <a:extLst>
              <a:ext uri="{FF2B5EF4-FFF2-40B4-BE49-F238E27FC236}">
                <a16:creationId xmlns:a16="http://schemas.microsoft.com/office/drawing/2014/main" id="{DC730C80-2112-0F6B-3AFA-86D36079816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46421" y="7153193"/>
            <a:ext cx="1156710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Tesis I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3;p7">
            <a:extLst>
              <a:ext uri="{FF2B5EF4-FFF2-40B4-BE49-F238E27FC236}">
                <a16:creationId xmlns:a16="http://schemas.microsoft.com/office/drawing/2014/main" id="{FF7484D9-A2CF-466F-1732-BFC6F4A54A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201664" y="7095329"/>
            <a:ext cx="715162" cy="2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>
              <a:lnSpc>
                <a:spcPct val="106666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64;p8">
            <a:extLst>
              <a:ext uri="{FF2B5EF4-FFF2-40B4-BE49-F238E27FC236}">
                <a16:creationId xmlns:a16="http://schemas.microsoft.com/office/drawing/2014/main" id="{EECBE72C-C5F8-FE5D-BE60-9C38C8F57BCD}"/>
              </a:ext>
            </a:extLst>
          </p:cNvPr>
          <p:cNvSpPr txBox="1">
            <a:spLocks/>
          </p:cNvSpPr>
          <p:nvPr/>
        </p:nvSpPr>
        <p:spPr>
          <a:xfrm>
            <a:off x="4674548" y="828144"/>
            <a:ext cx="2196151" cy="45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Hipótesis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2F679B-4E1F-DAC3-F14E-6E45EF83DD60}"/>
              </a:ext>
            </a:extLst>
          </p:cNvPr>
          <p:cNvSpPr txBox="1"/>
          <p:nvPr/>
        </p:nvSpPr>
        <p:spPr>
          <a:xfrm>
            <a:off x="1089025" y="2533303"/>
            <a:ext cx="8515350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las zonas productoras de plátano en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Ñunya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Jalca, Amazonas, existen especies nativas de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spp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 potencial de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biocontrol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sobre el picudo rayado del plátano (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Metamasius</a:t>
            </a:r>
            <a:r>
              <a:rPr lang="es-MX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hemipterus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que pueden ser integradas como alternativa de control biológico 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P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00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673"/>
    </mc:Choice>
    <mc:Fallback>
      <p:transition spd="slow" advTm="2116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3AC3560-F3B5-EDBA-E16C-F8CD33572B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224779"/>
              </p:ext>
            </p:extLst>
          </p:nvPr>
        </p:nvGraphicFramePr>
        <p:xfrm>
          <a:off x="1882459" y="1405114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F8620981-B077-9D7E-EC58-4CD940BD3CD8}"/>
              </a:ext>
            </a:extLst>
          </p:cNvPr>
          <p:cNvSpPr txBox="1">
            <a:spLocks/>
          </p:cNvSpPr>
          <p:nvPr/>
        </p:nvSpPr>
        <p:spPr>
          <a:xfrm>
            <a:off x="4266476" y="872568"/>
            <a:ext cx="2667724" cy="4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107321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5A1A-4C62-B9E6-80FD-D5F9511E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BABA086B-1B30-3FD8-1D80-A8807A0B2D0D}"/>
              </a:ext>
            </a:extLst>
          </p:cNvPr>
          <p:cNvSpPr txBox="1">
            <a:spLocks/>
          </p:cNvSpPr>
          <p:nvPr/>
        </p:nvSpPr>
        <p:spPr>
          <a:xfrm>
            <a:off x="3676288" y="897968"/>
            <a:ext cx="3340824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Variables de estudio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C25E1F8-62C1-16A5-7CB1-41CE3D0B1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743795"/>
              </p:ext>
            </p:extLst>
          </p:nvPr>
        </p:nvGraphicFramePr>
        <p:xfrm>
          <a:off x="1896533" y="1748014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059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6F0C-DF73-1271-50C3-7F3FF451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D6003FCD-6AB1-BD39-D10A-D83C720247EE}"/>
              </a:ext>
            </a:extLst>
          </p:cNvPr>
          <p:cNvSpPr txBox="1">
            <a:spLocks/>
          </p:cNvSpPr>
          <p:nvPr/>
        </p:nvSpPr>
        <p:spPr>
          <a:xfrm>
            <a:off x="3527244" y="914637"/>
            <a:ext cx="5061312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Métodos propuestos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7754633C-9318-BD7D-23DE-9DB73661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48701"/>
              </p:ext>
            </p:extLst>
          </p:nvPr>
        </p:nvGraphicFramePr>
        <p:xfrm>
          <a:off x="518160" y="1749424"/>
          <a:ext cx="9657080" cy="5402492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573868">
                  <a:extLst>
                    <a:ext uri="{9D8B030D-6E8A-4147-A177-3AD203B41FA5}">
                      <a16:colId xmlns:a16="http://schemas.microsoft.com/office/drawing/2014/main" val="521138003"/>
                    </a:ext>
                  </a:extLst>
                </a:gridCol>
                <a:gridCol w="7083212">
                  <a:extLst>
                    <a:ext uri="{9D8B030D-6E8A-4147-A177-3AD203B41FA5}">
                      <a16:colId xmlns:a16="http://schemas.microsoft.com/office/drawing/2014/main" val="1720936488"/>
                    </a:ext>
                  </a:extLst>
                </a:gridCol>
              </a:tblGrid>
              <a:tr h="528931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334713"/>
                  </a:ext>
                </a:extLst>
              </a:tr>
              <a:tr h="831543">
                <a:tc>
                  <a:txBody>
                    <a:bodyPr/>
                    <a:lstStyle/>
                    <a:p>
                      <a:r>
                        <a:rPr lang="es-PE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Obtención de muestras</a:t>
                      </a:r>
                      <a:endParaRPr lang="es-PE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Adultos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micosados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de </a:t>
                      </a:r>
                      <a:r>
                        <a:rPr lang="es-MX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 </a:t>
                      </a:r>
                      <a:r>
                        <a:rPr lang="es-MX" sz="1400" b="0" i="1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hemipterus</a:t>
                      </a:r>
                      <a:r>
                        <a:rPr lang="es-MX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serán obtenidos mediante un muestreo dirigido, según </a:t>
                      </a:r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Mayo (2024).</a:t>
                      </a:r>
                      <a:endParaRPr lang="es-P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5775"/>
                  </a:ext>
                </a:extLst>
              </a:tr>
              <a:tr h="1194334">
                <a:tc>
                  <a:txBody>
                    <a:bodyPr/>
                    <a:lstStyle/>
                    <a:p>
                      <a:r>
                        <a:rPr lang="es-PE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Obtención de aislados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Metodología utilizada por Torres et al. (2016), Los adultos con signos de micosis serán desinfectados mediante inmersión en una solución de hipoclorito de sodio al 0,5 % durante 5 minutos y puestos en cámaras húmedas por 8 días.</a:t>
                      </a:r>
                      <a:endParaRPr lang="es-PE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07191"/>
                  </a:ext>
                </a:extLst>
              </a:tr>
              <a:tr h="119433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Caracterización morfológica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Para la identificación se describirán las estructuras reproductivas de los aislados, de acuerdo con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Humber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(2012). Para la caracterización, según Mayo (2024), los aislados después de 14 días, evaluar características de la colonia: tamaño, morfología y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conidiación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Microcultivo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montaje de muestra y fotografiado de estructuras (Hifas,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conidias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conidióforos), </a:t>
                      </a:r>
                      <a:r>
                        <a:rPr lang="fi-FI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según Oliva et al. (2024)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  <a:endParaRPr lang="es-PE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28011"/>
                  </a:ext>
                </a:extLst>
              </a:tr>
              <a:tr h="1194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Caracterización fisiológica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Crecimiento micelial (Torres et al., 2013), Producción conidial (Lipa &amp; </a:t>
                      </a:r>
                      <a:r>
                        <a:rPr lang="es-PE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Slizynski</a:t>
                      </a:r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(1973),</a:t>
                      </a:r>
                    </a:p>
                    <a:p>
                      <a:b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</a:br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Porcentaje de germinación (Torres et al., 2016).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11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02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8244-2460-9143-8232-E1BBD438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59561CCD-A111-FC6F-5D51-E76EE83D6C67}"/>
              </a:ext>
            </a:extLst>
          </p:cNvPr>
          <p:cNvSpPr txBox="1">
            <a:spLocks/>
          </p:cNvSpPr>
          <p:nvPr/>
        </p:nvSpPr>
        <p:spPr>
          <a:xfrm>
            <a:off x="4365444" y="838437"/>
            <a:ext cx="5061312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Métodos propuestos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88DCA0B4-4A51-BC2B-7A76-DF427EF73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82992"/>
              </p:ext>
            </p:extLst>
          </p:nvPr>
        </p:nvGraphicFramePr>
        <p:xfrm>
          <a:off x="518160" y="2274513"/>
          <a:ext cx="9657080" cy="3013824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472268">
                  <a:extLst>
                    <a:ext uri="{9D8B030D-6E8A-4147-A177-3AD203B41FA5}">
                      <a16:colId xmlns:a16="http://schemas.microsoft.com/office/drawing/2014/main" val="521138003"/>
                    </a:ext>
                  </a:extLst>
                </a:gridCol>
                <a:gridCol w="7184812">
                  <a:extLst>
                    <a:ext uri="{9D8B030D-6E8A-4147-A177-3AD203B41FA5}">
                      <a16:colId xmlns:a16="http://schemas.microsoft.com/office/drawing/2014/main" val="1720936488"/>
                    </a:ext>
                  </a:extLst>
                </a:gridCol>
              </a:tblGrid>
              <a:tr h="528931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334713"/>
                  </a:ext>
                </a:extLst>
              </a:tr>
              <a:tr h="83154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Evaluación de patogenicidad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10 adultos de </a:t>
                      </a:r>
                      <a:r>
                        <a:rPr lang="es-MX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 </a:t>
                      </a:r>
                      <a:r>
                        <a:rPr lang="es-MX" sz="1400" b="0" i="1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hemipterus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serán sumergidos durante un minuto en una suspensión conidial de de 1 x 10⁷ conidios por mililitro, complementada con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Tween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80 al 0,1 %. </a:t>
                      </a:r>
                      <a:endParaRPr lang="es-PE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5775"/>
                  </a:ext>
                </a:extLst>
              </a:tr>
              <a:tr h="119433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Producción de conidios en arroz</a:t>
                      </a:r>
                      <a:endParaRPr lang="es-PE" sz="1800" b="1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Metodología utilizada por Torres et al. (2016), Se emplearán 50 gramos de arroz depositados en bolsas de </a:t>
                      </a:r>
                      <a:r>
                        <a:rPr lang="es-MX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polipapel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humedecidos con 12 mililitros de agua destilada, y esterilizados a 121 °C durante 20 minutos. Posterior, las bolsas serán inoculadas con 5 mililitros de suspensión con 1 x 10⁶ conidios por mililitro, e incubadas durante 15 días a una temperatura constante de 25 ± 1 °C y bajo un fotoperiodo de 12 horas luz y 12 horas oscuridad.</a:t>
                      </a:r>
                      <a:endParaRPr lang="es-PE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07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57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082B-809C-81BB-DAAF-E3D93385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1A8782ED-6115-1971-8734-DF4047C69220}"/>
              </a:ext>
            </a:extLst>
          </p:cNvPr>
          <p:cNvSpPr txBox="1">
            <a:spLocks/>
          </p:cNvSpPr>
          <p:nvPr/>
        </p:nvSpPr>
        <p:spPr>
          <a:xfrm>
            <a:off x="4365444" y="838437"/>
            <a:ext cx="5061312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Referencias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FE8A56-7ABD-95F0-220D-966357247E6C}"/>
              </a:ext>
            </a:extLst>
          </p:cNvPr>
          <p:cNvSpPr txBox="1"/>
          <p:nvPr/>
        </p:nvSpPr>
        <p:spPr>
          <a:xfrm>
            <a:off x="431800" y="1498600"/>
            <a:ext cx="10160000" cy="5869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lnSpc>
                <a:spcPct val="150000"/>
              </a:lnSpc>
            </a:pP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Algarate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C., &amp; Marianella, O. (2023). Determinación del efecto de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anisopliae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el control de adultos de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Cryptocephalus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 condiciones de laboratorio.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https://hdl.handle.net/20.500.14414/17611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M. S., &amp;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M. (2017).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spp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Fungus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Fungi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3(2),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https://doi.org/10.3390/jof3020030</a:t>
            </a:r>
          </a:p>
          <a:p>
            <a:pPr indent="-457200">
              <a:lnSpc>
                <a:spcPct val="150000"/>
              </a:lnSpc>
            </a:pP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Baró, Y., Schuster, C., Gato, Y., Márquez, M. E., &amp;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Leclerque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(2022).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virulence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Cuba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sweet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potato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weevil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Cylas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formicarius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Fabricius (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Coleoptera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Brentidae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Microbiology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132(5), 3705-3716.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https://doi.org/10.1111/jam.15460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Chuquibala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-Checan, B., Torres-de la Cruz, M., Leiva, S.,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Hernandez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-Diaz, E., Rubio, K.,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Goñas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Arce-Inga, M., &amp; Oliva-Cruz, M. (2023). In Vitro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bassiana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peruviensis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Metarhizium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Hypothenemus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hampei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Coleoptera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Curculionidae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International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Agronomy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2023(1), 4982399.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https://doi.org/10.1155/2023/4982399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</a:pP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Gerónimo-Torres, J. D. C., Torres-de-la-Cruz, M., Cruz, M. P.,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De-la-Cruz-Pérez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Ortiz-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garcía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F., &amp;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Cappello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-García, S. (2016). Caracterización de aislamientos nativos de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Beauveria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bassiana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su patogenicidad hacia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Hypothenemus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hampei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 Tabasco, México. Revista Colombiana de Entomología, 42(1), 28-35.</a:t>
            </a:r>
          </a:p>
          <a:p>
            <a:pPr indent="-457200">
              <a:lnSpc>
                <a:spcPct val="150000"/>
              </a:lnSpc>
            </a:pPr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7688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F12E-36D7-810F-B619-E9DA4AEF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0D175E0B-5B6B-59F8-4B3D-8A90AF5F2106}"/>
              </a:ext>
            </a:extLst>
          </p:cNvPr>
          <p:cNvSpPr txBox="1">
            <a:spLocks/>
          </p:cNvSpPr>
          <p:nvPr/>
        </p:nvSpPr>
        <p:spPr>
          <a:xfrm>
            <a:off x="4365444" y="838437"/>
            <a:ext cx="5061312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Referencias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146CAAC-7E90-E162-8108-28C62BC7097D}"/>
              </a:ext>
            </a:extLst>
          </p:cNvPr>
          <p:cNvSpPr txBox="1"/>
          <p:nvPr/>
        </p:nvSpPr>
        <p:spPr>
          <a:xfrm>
            <a:off x="469900" y="1752601"/>
            <a:ext cx="10096500" cy="52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indent="-457200"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PE" dirty="0" err="1"/>
              <a:t>Humber</a:t>
            </a:r>
            <a:r>
              <a:rPr lang="es-PE" dirty="0"/>
              <a:t>, R. A. (2012). </a:t>
            </a:r>
            <a:r>
              <a:rPr lang="es-PE" dirty="0" err="1"/>
              <a:t>Chapter</a:t>
            </a:r>
            <a:r>
              <a:rPr lang="es-PE" dirty="0"/>
              <a:t> VI - </a:t>
            </a:r>
            <a:r>
              <a:rPr lang="es-PE" dirty="0" err="1"/>
              <a:t>Identification</a:t>
            </a:r>
            <a:r>
              <a:rPr lang="es-PE" dirty="0"/>
              <a:t> </a:t>
            </a:r>
            <a:r>
              <a:rPr lang="es-PE" dirty="0" err="1"/>
              <a:t>of</a:t>
            </a:r>
            <a:r>
              <a:rPr lang="es-PE" dirty="0"/>
              <a:t> </a:t>
            </a:r>
            <a:r>
              <a:rPr lang="es-PE" dirty="0" err="1"/>
              <a:t>entomopathogenic</a:t>
            </a:r>
            <a:r>
              <a:rPr lang="es-PE" dirty="0"/>
              <a:t> </a:t>
            </a:r>
            <a:r>
              <a:rPr lang="es-PE" dirty="0" err="1"/>
              <a:t>fungi</a:t>
            </a:r>
            <a:r>
              <a:rPr lang="es-PE" dirty="0"/>
              <a:t>. En L. A. </a:t>
            </a:r>
            <a:r>
              <a:rPr lang="es-PE" dirty="0" err="1"/>
              <a:t>Lacey</a:t>
            </a:r>
            <a:r>
              <a:rPr lang="es-PE" dirty="0"/>
              <a:t> (Ed.), Manual </a:t>
            </a:r>
            <a:r>
              <a:rPr lang="es-PE" dirty="0" err="1"/>
              <a:t>of</a:t>
            </a:r>
            <a:r>
              <a:rPr lang="es-PE" dirty="0"/>
              <a:t> </a:t>
            </a:r>
            <a:r>
              <a:rPr lang="es-PE" dirty="0" err="1"/>
              <a:t>Techniques</a:t>
            </a:r>
            <a:r>
              <a:rPr lang="es-PE" dirty="0"/>
              <a:t> in </a:t>
            </a:r>
            <a:r>
              <a:rPr lang="es-PE" dirty="0" err="1"/>
              <a:t>Invertebrate</a:t>
            </a:r>
            <a:r>
              <a:rPr lang="es-PE" dirty="0"/>
              <a:t> </a:t>
            </a:r>
            <a:r>
              <a:rPr lang="es-PE" dirty="0" err="1"/>
              <a:t>Pathology</a:t>
            </a:r>
            <a:r>
              <a:rPr lang="es-PE" dirty="0"/>
              <a:t> (</a:t>
            </a:r>
            <a:r>
              <a:rPr lang="es-PE" dirty="0" err="1"/>
              <a:t>Second</a:t>
            </a:r>
            <a:r>
              <a:rPr lang="es-PE" dirty="0"/>
              <a:t> </a:t>
            </a:r>
            <a:r>
              <a:rPr lang="es-PE" dirty="0" err="1"/>
              <a:t>Edition</a:t>
            </a:r>
            <a:r>
              <a:rPr lang="es-PE" dirty="0"/>
              <a:t>) (pp. 151-187). </a:t>
            </a:r>
            <a:r>
              <a:rPr lang="es-PE" dirty="0" err="1"/>
              <a:t>Academic</a:t>
            </a:r>
            <a:r>
              <a:rPr lang="es-PE" dirty="0"/>
              <a:t> </a:t>
            </a:r>
            <a:r>
              <a:rPr lang="es-PE" dirty="0" err="1"/>
              <a:t>Press</a:t>
            </a:r>
            <a:r>
              <a:rPr lang="es-PE" dirty="0"/>
              <a:t>. </a:t>
            </a:r>
            <a:r>
              <a:rPr lang="es-PE" dirty="0">
                <a:hlinkClick r:id="rId2"/>
              </a:rPr>
              <a:t>https://doi.org/10.1016/B978-0-12-386899-2.00006-3</a:t>
            </a:r>
            <a:endParaRPr lang="es-PE" dirty="0"/>
          </a:p>
          <a:p>
            <a:endParaRPr lang="es-PE" dirty="0"/>
          </a:p>
          <a:p>
            <a:r>
              <a:rPr lang="es-PE" dirty="0"/>
              <a:t>Lipa, J. J., &amp; </a:t>
            </a:r>
            <a:r>
              <a:rPr lang="es-PE" dirty="0" err="1"/>
              <a:t>Slizynski</a:t>
            </a:r>
            <a:r>
              <a:rPr lang="es-PE" dirty="0"/>
              <a:t>, K. (1973). </a:t>
            </a:r>
            <a:r>
              <a:rPr lang="es-PE" dirty="0" err="1"/>
              <a:t>Wskazówki</a:t>
            </a:r>
            <a:r>
              <a:rPr lang="es-PE" dirty="0"/>
              <a:t> </a:t>
            </a:r>
            <a:r>
              <a:rPr lang="es-PE" dirty="0" err="1"/>
              <a:t>metodyczne</a:t>
            </a:r>
            <a:r>
              <a:rPr lang="es-PE" dirty="0"/>
              <a:t> i </a:t>
            </a:r>
            <a:r>
              <a:rPr lang="es-PE" dirty="0" err="1"/>
              <a:t>terminologia</a:t>
            </a:r>
            <a:r>
              <a:rPr lang="es-PE" dirty="0"/>
              <a:t> do </a:t>
            </a:r>
            <a:r>
              <a:rPr lang="es-PE" dirty="0" err="1"/>
              <a:t>wyznaczania</a:t>
            </a:r>
            <a:r>
              <a:rPr lang="es-PE" dirty="0"/>
              <a:t> </a:t>
            </a:r>
            <a:r>
              <a:rPr lang="es-PE" dirty="0" err="1"/>
              <a:t>średniej</a:t>
            </a:r>
            <a:r>
              <a:rPr lang="es-PE" dirty="0"/>
              <a:t> </a:t>
            </a:r>
            <a:r>
              <a:rPr lang="es-PE" dirty="0" err="1"/>
              <a:t>dawki</a:t>
            </a:r>
            <a:r>
              <a:rPr lang="es-PE" dirty="0"/>
              <a:t> </a:t>
            </a:r>
            <a:r>
              <a:rPr lang="es-PE" dirty="0" err="1"/>
              <a:t>śmiertelnej</a:t>
            </a:r>
            <a:r>
              <a:rPr lang="es-PE" dirty="0"/>
              <a:t> (LD50) w </a:t>
            </a:r>
            <a:r>
              <a:rPr lang="es-PE" dirty="0" err="1"/>
              <a:t>patologii</a:t>
            </a:r>
            <a:r>
              <a:rPr lang="es-PE" dirty="0"/>
              <a:t> </a:t>
            </a:r>
            <a:r>
              <a:rPr lang="es-PE" dirty="0" err="1"/>
              <a:t>owadów</a:t>
            </a:r>
            <a:r>
              <a:rPr lang="es-PE" dirty="0"/>
              <a:t> i </a:t>
            </a:r>
            <a:r>
              <a:rPr lang="es-PE" dirty="0" err="1"/>
              <a:t>toksykologii</a:t>
            </a:r>
            <a:r>
              <a:rPr lang="es-PE" dirty="0"/>
              <a:t>. </a:t>
            </a:r>
            <a:r>
              <a:rPr lang="es-PE" dirty="0" err="1"/>
              <a:t>Prace</a:t>
            </a:r>
            <a:r>
              <a:rPr lang="es-PE" dirty="0"/>
              <a:t> </a:t>
            </a:r>
            <a:r>
              <a:rPr lang="es-PE" dirty="0" err="1"/>
              <a:t>Naukowe</a:t>
            </a:r>
            <a:r>
              <a:rPr lang="es-PE" dirty="0"/>
              <a:t> </a:t>
            </a:r>
            <a:r>
              <a:rPr lang="es-PE" dirty="0" err="1"/>
              <a:t>Instytutu</a:t>
            </a:r>
            <a:r>
              <a:rPr lang="es-PE" dirty="0"/>
              <a:t> </a:t>
            </a:r>
            <a:r>
              <a:rPr lang="es-PE" dirty="0" err="1"/>
              <a:t>Ochrony</a:t>
            </a:r>
            <a:r>
              <a:rPr lang="es-PE" dirty="0"/>
              <a:t> </a:t>
            </a:r>
            <a:r>
              <a:rPr lang="es-PE" dirty="0" err="1"/>
              <a:t>Roślin</a:t>
            </a:r>
            <a:r>
              <a:rPr lang="es-PE" dirty="0"/>
              <a:t>, 15(1). </a:t>
            </a:r>
            <a:r>
              <a:rPr lang="es-PE" dirty="0">
                <a:hlinkClick r:id="rId3"/>
              </a:rPr>
              <a:t>http://agro.icm.edu.pl/agro/element/bwmeta1.element.agro-a6c704fd-061e-4c7e-bbcd-add4213ad0fe</a:t>
            </a:r>
            <a:endParaRPr lang="es-PE" dirty="0"/>
          </a:p>
          <a:p>
            <a:endParaRPr lang="es-PE" dirty="0"/>
          </a:p>
          <a:p>
            <a:r>
              <a:rPr lang="es-PE" dirty="0"/>
              <a:t>Mayo Hernández, M. Á. (2024). Caracterización de aislamientos nativos de </a:t>
            </a:r>
            <a:r>
              <a:rPr lang="es-PE" dirty="0" err="1"/>
              <a:t>Metarhizium</a:t>
            </a:r>
            <a:r>
              <a:rPr lang="es-PE" dirty="0"/>
              <a:t> </a:t>
            </a:r>
            <a:r>
              <a:rPr lang="es-PE" dirty="0" err="1"/>
              <a:t>sp</a:t>
            </a:r>
            <a:r>
              <a:rPr lang="es-PE" dirty="0"/>
              <a:t>. para el control biológico de la chinche </a:t>
            </a:r>
            <a:r>
              <a:rPr lang="es-PE" dirty="0" err="1"/>
              <a:t>Antiteuchus</a:t>
            </a:r>
            <a:r>
              <a:rPr lang="es-PE" dirty="0"/>
              <a:t> </a:t>
            </a:r>
            <a:r>
              <a:rPr lang="es-PE" dirty="0" err="1"/>
              <a:t>Tripterus</a:t>
            </a:r>
            <a:r>
              <a:rPr lang="es-PE" dirty="0"/>
              <a:t> (</a:t>
            </a:r>
            <a:r>
              <a:rPr lang="es-PE" dirty="0" err="1"/>
              <a:t>Hemiptera</a:t>
            </a:r>
            <a:r>
              <a:rPr lang="es-PE" dirty="0"/>
              <a:t>: </a:t>
            </a:r>
            <a:r>
              <a:rPr lang="es-PE" dirty="0" err="1"/>
              <a:t>Pentatomidae</a:t>
            </a:r>
            <a:r>
              <a:rPr lang="es-PE" dirty="0"/>
              <a:t>) en Tabasco, México. </a:t>
            </a:r>
            <a:r>
              <a:rPr lang="es-PE" dirty="0">
                <a:hlinkClick r:id="rId4"/>
              </a:rPr>
              <a:t>https://ri.ujat.mx/handle/200.500.12107/4470</a:t>
            </a:r>
            <a:endParaRPr lang="es-PE" dirty="0"/>
          </a:p>
          <a:p>
            <a:endParaRPr lang="es-PE" dirty="0"/>
          </a:p>
          <a:p>
            <a:r>
              <a:rPr lang="es-PE" dirty="0"/>
              <a:t>Oliva-Cruz, M., Altamirano-</a:t>
            </a:r>
            <a:r>
              <a:rPr lang="es-PE" dirty="0" err="1"/>
              <a:t>Tantalean</a:t>
            </a:r>
            <a:r>
              <a:rPr lang="es-PE" dirty="0"/>
              <a:t>, M. A., Chuquizuta-Torres, R., Oliva-Cruz, C., Maicelo-Quintana, J. L., Leiva-Espinoza, S. T., Culqui, L., </a:t>
            </a:r>
            <a:r>
              <a:rPr lang="es-PE" dirty="0" err="1"/>
              <a:t>Mendez-Fasabi</a:t>
            </a:r>
            <a:r>
              <a:rPr lang="es-PE" dirty="0"/>
              <a:t>, L. D., Rojas Ventura, H. M., </a:t>
            </a:r>
            <a:r>
              <a:rPr lang="es-PE" dirty="0" err="1"/>
              <a:t>Corazon-Guivin</a:t>
            </a:r>
            <a:r>
              <a:rPr lang="es-PE" dirty="0"/>
              <a:t>, M. A., &amp; </a:t>
            </a:r>
            <a:r>
              <a:rPr lang="es-PE" dirty="0" err="1"/>
              <a:t>Juarez</a:t>
            </a:r>
            <a:r>
              <a:rPr lang="es-PE" dirty="0"/>
              <a:t>-Contreras, L. (2024). </a:t>
            </a:r>
            <a:r>
              <a:rPr lang="es-PE" dirty="0" err="1"/>
              <a:t>Isolation</a:t>
            </a:r>
            <a:r>
              <a:rPr lang="es-PE" dirty="0"/>
              <a:t> and </a:t>
            </a:r>
            <a:r>
              <a:rPr lang="es-PE" dirty="0" err="1"/>
              <a:t>Characterization</a:t>
            </a:r>
            <a:r>
              <a:rPr lang="es-PE" dirty="0"/>
              <a:t> </a:t>
            </a:r>
            <a:r>
              <a:rPr lang="es-PE" dirty="0" err="1"/>
              <a:t>of</a:t>
            </a:r>
            <a:r>
              <a:rPr lang="es-PE" dirty="0"/>
              <a:t> Native </a:t>
            </a:r>
            <a:r>
              <a:rPr lang="es-PE" dirty="0" err="1"/>
              <a:t>Isolates</a:t>
            </a:r>
            <a:r>
              <a:rPr lang="es-PE" dirty="0"/>
              <a:t> </a:t>
            </a:r>
            <a:r>
              <a:rPr lang="es-PE" dirty="0" err="1"/>
              <a:t>of</a:t>
            </a:r>
            <a:r>
              <a:rPr lang="es-PE" dirty="0"/>
              <a:t> </a:t>
            </a:r>
            <a:r>
              <a:rPr lang="es-PE" dirty="0" err="1"/>
              <a:t>Metarhizium</a:t>
            </a:r>
            <a:r>
              <a:rPr lang="es-PE" dirty="0"/>
              <a:t> </a:t>
            </a:r>
            <a:r>
              <a:rPr lang="es-PE" dirty="0" err="1"/>
              <a:t>sp</a:t>
            </a:r>
            <a:r>
              <a:rPr lang="es-PE" dirty="0"/>
              <a:t>. As a </a:t>
            </a:r>
            <a:r>
              <a:rPr lang="es-PE" dirty="0" err="1"/>
              <a:t>Biocontrol</a:t>
            </a:r>
            <a:r>
              <a:rPr lang="es-PE" dirty="0"/>
              <a:t> </a:t>
            </a:r>
            <a:r>
              <a:rPr lang="es-PE" dirty="0" err="1"/>
              <a:t>Agent</a:t>
            </a:r>
            <a:r>
              <a:rPr lang="es-PE" dirty="0"/>
              <a:t> </a:t>
            </a:r>
            <a:r>
              <a:rPr lang="es-PE" dirty="0" err="1"/>
              <a:t>of</a:t>
            </a:r>
            <a:r>
              <a:rPr lang="es-PE" dirty="0"/>
              <a:t> </a:t>
            </a:r>
            <a:r>
              <a:rPr lang="es-PE" dirty="0" err="1"/>
              <a:t>Hypothenemus</a:t>
            </a:r>
            <a:r>
              <a:rPr lang="es-PE" dirty="0"/>
              <a:t> </a:t>
            </a:r>
            <a:r>
              <a:rPr lang="es-PE" dirty="0" err="1"/>
              <a:t>hampei</a:t>
            </a:r>
            <a:r>
              <a:rPr lang="es-PE" dirty="0"/>
              <a:t> in Rodríguez de Mendoza </a:t>
            </a:r>
            <a:r>
              <a:rPr lang="es-PE" dirty="0" err="1"/>
              <a:t>Province</a:t>
            </a:r>
            <a:r>
              <a:rPr lang="es-PE" dirty="0"/>
              <a:t>—</a:t>
            </a:r>
            <a:r>
              <a:rPr lang="es-PE" dirty="0" err="1"/>
              <a:t>Peru</a:t>
            </a:r>
            <a:r>
              <a:rPr lang="es-PE" dirty="0"/>
              <a:t>. </a:t>
            </a:r>
            <a:r>
              <a:rPr lang="es-PE" dirty="0" err="1"/>
              <a:t>Agronomy</a:t>
            </a:r>
            <a:r>
              <a:rPr lang="es-PE" dirty="0"/>
              <a:t>, 14(7), </a:t>
            </a:r>
            <a:r>
              <a:rPr lang="es-PE" dirty="0" err="1"/>
              <a:t>Article</a:t>
            </a:r>
            <a:r>
              <a:rPr lang="es-PE" dirty="0"/>
              <a:t> 7. </a:t>
            </a:r>
            <a:r>
              <a:rPr lang="es-PE" dirty="0">
                <a:hlinkClick r:id="rId5"/>
              </a:rPr>
              <a:t>https://doi.org/10.3390/agronomy14071341</a:t>
            </a:r>
            <a:endParaRPr lang="es-PE" dirty="0"/>
          </a:p>
          <a:p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60077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CA78-CF3C-8909-6ABD-D026E2AD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p8">
            <a:extLst>
              <a:ext uri="{FF2B5EF4-FFF2-40B4-BE49-F238E27FC236}">
                <a16:creationId xmlns:a16="http://schemas.microsoft.com/office/drawing/2014/main" id="{ABCAB253-2098-1836-0A6A-F40902C4A095}"/>
              </a:ext>
            </a:extLst>
          </p:cNvPr>
          <p:cNvSpPr txBox="1">
            <a:spLocks/>
          </p:cNvSpPr>
          <p:nvPr/>
        </p:nvSpPr>
        <p:spPr>
          <a:xfrm>
            <a:off x="4365444" y="838437"/>
            <a:ext cx="5061312" cy="44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5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solidFill>
                  <a:schemeClr val="bg1"/>
                </a:solidFill>
                <a:latin typeface="TimesNewRomanPS-BoldMT"/>
              </a:rPr>
              <a:t>Referencias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1E7CBD9-0F3E-887F-D19E-349CCE7BF7AF}"/>
              </a:ext>
            </a:extLst>
          </p:cNvPr>
          <p:cNvSpPr txBox="1"/>
          <p:nvPr/>
        </p:nvSpPr>
        <p:spPr>
          <a:xfrm>
            <a:off x="298450" y="1905001"/>
            <a:ext cx="10096500" cy="29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indent="-457200"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PE" dirty="0"/>
              <a:t>Torres de la C., M., Cortez M., H., Ortiz G., C. F., </a:t>
            </a:r>
            <a:r>
              <a:rPr lang="es-PE" dirty="0" err="1"/>
              <a:t>Cappello</a:t>
            </a:r>
            <a:r>
              <a:rPr lang="es-PE" dirty="0"/>
              <a:t> G., S., &amp; de la Cruz P., A. (2013). Caracterización de aislamientos nativos de </a:t>
            </a:r>
            <a:r>
              <a:rPr lang="es-PE" dirty="0" err="1"/>
              <a:t>Metarhizium</a:t>
            </a:r>
            <a:r>
              <a:rPr lang="es-PE" dirty="0"/>
              <a:t> </a:t>
            </a:r>
            <a:r>
              <a:rPr lang="es-PE" dirty="0" err="1"/>
              <a:t>anisopliaey</a:t>
            </a:r>
            <a:r>
              <a:rPr lang="es-PE" dirty="0"/>
              <a:t> su patogenicidad hacia </a:t>
            </a:r>
            <a:r>
              <a:rPr lang="es-PE" dirty="0" err="1"/>
              <a:t>Aeneolamia</a:t>
            </a:r>
            <a:r>
              <a:rPr lang="es-PE" dirty="0"/>
              <a:t> postica, en Tabasco, México. Revista Colombiana de Entomología, 39(1), 40-46.</a:t>
            </a:r>
          </a:p>
          <a:p>
            <a:endParaRPr lang="es-PE" dirty="0"/>
          </a:p>
          <a:p>
            <a:r>
              <a:rPr lang="es-PE" dirty="0"/>
              <a:t>Valle, S., Carrera, K., Alemán, R., Caicedo, W., Valle, S., Carrera, K., Alemán, R., &amp; Caicedo, W. (2021). Caracterización de aislamientos nativos de </a:t>
            </a:r>
            <a:r>
              <a:rPr lang="es-PE" dirty="0" err="1"/>
              <a:t>Metarhizium</a:t>
            </a:r>
            <a:r>
              <a:rPr lang="es-PE" dirty="0"/>
              <a:t> </a:t>
            </a:r>
            <a:r>
              <a:rPr lang="es-PE" dirty="0" err="1"/>
              <a:t>spp</a:t>
            </a:r>
            <a:r>
              <a:rPr lang="es-PE" dirty="0"/>
              <a:t>. Para el control de </a:t>
            </a:r>
            <a:r>
              <a:rPr lang="es-PE" dirty="0" err="1"/>
              <a:t>Mahanarva</a:t>
            </a:r>
            <a:r>
              <a:rPr lang="es-PE" dirty="0"/>
              <a:t> </a:t>
            </a:r>
            <a:r>
              <a:rPr lang="es-PE" dirty="0" err="1"/>
              <a:t>andigena</a:t>
            </a:r>
            <a:r>
              <a:rPr lang="es-PE" dirty="0"/>
              <a:t> en el cultivar de caña de azúcar POJ93 en la Amazonia ecuatoriana. </a:t>
            </a:r>
            <a:r>
              <a:rPr lang="es-PE" dirty="0" err="1"/>
              <a:t>Idesia</a:t>
            </a:r>
            <a:r>
              <a:rPr lang="es-PE" dirty="0"/>
              <a:t> (Arica), 39(1), 69-75. https://doi.org/10.4067/S0718-34292021000100069</a:t>
            </a:r>
          </a:p>
          <a:p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6488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1592</Words>
  <Application>Microsoft Office PowerPoint</Application>
  <PresentationFormat>Personalizado</PresentationFormat>
  <Paragraphs>85</Paragraphs>
  <Slides>11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TimesNewRomanPS-BoldMT</vt:lpstr>
      <vt:lpstr>Office Theme</vt:lpstr>
      <vt:lpstr>Aislados nativos de Metarhizium spp. con potencial de biocontrol sobre el picudo rayado del plátano (Metamasius hemipterus) en Ñunya Jalca, Amazonas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comparativo de la emergencia de cuatro variedades de Lactuca sativa en sustrato estándar</dc:title>
  <dc:creator>Edwin</dc:creator>
  <cp:lastModifiedBy>Edwin Mondragon</cp:lastModifiedBy>
  <cp:revision>5</cp:revision>
  <dcterms:modified xsi:type="dcterms:W3CDTF">2025-06-10T18:43:44Z</dcterms:modified>
</cp:coreProperties>
</file>